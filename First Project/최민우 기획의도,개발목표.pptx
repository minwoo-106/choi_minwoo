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Netflix</c:v>
                </c:pt>
                <c:pt idx="1">
                  <c:v>Coupang</c:v>
                </c:pt>
                <c:pt idx="2">
                  <c:v>TVING</c:v>
                </c:pt>
                <c:pt idx="3">
                  <c:v>Disney+</c:v>
                </c:pt>
                <c:pt idx="4">
                  <c:v>Wavve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1527</c:v>
                </c:pt>
                <c:pt idx="1">
                  <c:v>832</c:v>
                </c:pt>
                <c:pt idx="2">
                  <c:v>733</c:v>
                </c:pt>
                <c:pt idx="3">
                  <c:v>407</c:v>
                </c:pt>
                <c:pt idx="4">
                  <c:v>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38-4161-B160-51A4A9AAB5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37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slide is an original design created for the user. No external factual claims or assets were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Deloitte press release (Digital Media Trends, 2025): https://www.deloitte.com/us/en/about/press-room/digital-media-trends-consumption-habits-survey.html
- Deloitte report page (2025 Digital Media Trends): https://www.deloitte.com/us/en/insights/industry/technology/digital-media-trends-consumption-habits-survey/2025.html
- Image (Unsplash): https://images.unsplash.com/photo-1584905066893-7d5c142ba4e1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ETNews (모바일인덱스 인용, 2026년 2월 OTT MAU 및 전월 대비 변화): https://www.etnews.com/20260309000306
- Image (Unsplash): https://images.unsplash.com/photo-1560169897-fc0cdbdfa4d5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(Method reference) Deloitte Digital Media Trends에서 ‘해지/재구독’ 및 ‘가치 대비 가격’ 지표가 리텐션 중요성 근거로 활용 가능: https://www.deloitte.com/us/en/about/press-room/digital-media-trends-consumption-habits-survey.html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motivation for retention/price sensitivity (Deloitte Digital Media Trends 2025): https://www.deloitte.com/us/en/insights/industry/technology/digital-media-trends-consumption-habits-survey/2025.html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713232" y="1051560"/>
            <a:ext cx="929436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유지 이탈 방지 및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 최적화를 위한 생성형 AI 서비스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기반 이용자 유형 분석, 이탈 취약도 평가, 광고형 요금제 시뮬레이션을 통해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 서비스의 구독 유지 전략을 지원하는 데이터 기반 프로젝트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4470400"/>
            <a:ext cx="3611880" cy="9017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6F4"/>
            </a:solidFill>
            <a:prstDash val="solid"/>
          </a:ln>
          <a:effectLst>
            <a:outerShdw blurRad="19050" dist="50800" dir="2700000" algn="bl" rotWithShape="0">
              <a:srgbClr val="C6D4F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2026.03.17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83435" y="49606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최민우</a:t>
            </a:r>
            <a:endParaRPr lang="en-US" sz="1050" dirty="0">
              <a:solidFill>
                <a:srgbClr val="37415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OTT 리텐션 </a:t>
            </a:r>
            <a:r>
              <a:rPr lang="en-US" sz="10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050" dirty="0">
              <a:solidFill>
                <a:srgbClr val="37415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기획의도 ①  |  OTT 구독 전쟁의 핵심은 “유지(리텐션)”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획득 비용이 커질수록, 이탈(해지) 방어가 곧 매출 방어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/mnt/data/watching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554480"/>
            <a:ext cx="3657600" cy="5074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507492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463040"/>
            <a:ext cx="10972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1508761"/>
            <a:ext cx="832104" cy="237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가격 인상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20240" y="1463040"/>
            <a:ext cx="120700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29968" y="1388873"/>
            <a:ext cx="190195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콘텐츠 분산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4408" y="1463040"/>
            <a:ext cx="131673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438657"/>
            <a:ext cx="1316736" cy="357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추천 만족도↓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1810512"/>
            <a:ext cx="3511296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186537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구독 피로(Subscription fatigue)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" y="2249424"/>
            <a:ext cx="6537960" cy="1773936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249424"/>
            <a:ext cx="73152" cy="17739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240280"/>
            <a:ext cx="6537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39%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914400" y="2990088"/>
            <a:ext cx="6537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최근 6개월 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유료 스트리밍(SVOD) 1개 이상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</a:rPr>
              <a:t>해지 경험 (Deloitte, 2025)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41605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97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41%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1920240" y="4315968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콘텐츠 가치가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가격만큼 “아깝다”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251960" y="416052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34840" y="4297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24%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486400" y="4315968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해지 후 “재구독”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(churn &amp; return)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924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왜 지금 “이탈 방지”인가?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92440" y="23317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신규 유입보다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기존 구독 유지가 비용 효율적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이탈은 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매출·추천 데이터·콘텐츠 투자에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연쇄 영향을 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기획의도 ②  |  국내 OTT도 “변동성” 확대 (MAU 변화)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플랫폼별 이용자 규모/성장세가 엇갈리며, 유지 전략 중요성↑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/mnt/data/streaming_scre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08760"/>
            <a:ext cx="292608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508760"/>
            <a:ext cx="2926080" cy="4251960"/>
          </a:xfrm>
          <a:prstGeom prst="rect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2026년 2월 OTT MAU (만 명)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" y="1783080"/>
          <a:ext cx="78181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5897880"/>
            <a:ext cx="10835640" cy="74980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6053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전월 대비 변화(요약):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880360" y="6053328"/>
            <a:ext cx="8458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넷플릭스 -64만  |  웨이브 -25만  |  디즈니+ +89만  |  쿠팡플레이 +50만  |  티빙 +18만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82396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인사이트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823960" y="2331720"/>
            <a:ext cx="2651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“규모”만큼이나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  “유지력”이 경쟁력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이용행태 기반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  취약군 조기 식별 →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  개인화 메시지/혜택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  설계가 핵심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개발목표 ①  |  기능 1: 설문 기반 “이용자 유형 + 이탈 취약도” 분석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해지 예측이 아니라, 이용행태로 취약 신호를 점수화/그룹화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440680" cy="5257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산출물 (Output)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user_type  : 이용성향 태그(규칙 기반)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use_time_pred : 예상 이용시간(회귀)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risk_score : </a:t>
            </a:r>
            <a:r>
              <a:rPr lang="ko-KR" altLang="en-US" sz="1250" dirty="0">
                <a:solidFill>
                  <a:srgbClr val="374151"/>
                </a:solidFill>
              </a:rPr>
              <a:t>이용형태 기반 취약도 점수</a:t>
            </a:r>
            <a:r>
              <a:rPr lang="en-US" sz="1250" dirty="0">
                <a:solidFill>
                  <a:srgbClr val="374151"/>
                </a:solidFill>
              </a:rPr>
              <a:t>(0~100)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risk_group : </a:t>
            </a:r>
            <a:r>
              <a:rPr lang="en-US" sz="1250" dirty="0" err="1">
                <a:solidFill>
                  <a:srgbClr val="374151"/>
                </a:solidFill>
              </a:rPr>
              <a:t>risk_score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기반 </a:t>
            </a:r>
            <a:r>
              <a:rPr lang="en-US" sz="1250" dirty="0" err="1">
                <a:solidFill>
                  <a:srgbClr val="374151"/>
                </a:solidFill>
              </a:rPr>
              <a:t>적정</a:t>
            </a:r>
            <a:r>
              <a:rPr lang="en-US" sz="1250" dirty="0">
                <a:solidFill>
                  <a:srgbClr val="374151"/>
                </a:solidFill>
              </a:rPr>
              <a:t>/주의/</a:t>
            </a:r>
            <a:r>
              <a:rPr lang="en-US" sz="1250" dirty="0" err="1">
                <a:solidFill>
                  <a:srgbClr val="374151"/>
                </a:solidFill>
              </a:rPr>
              <a:t>위험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그룹화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입력 (Survey Features)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520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요금·광고형 요금제 성향, 이용빈도/</a:t>
            </a:r>
            <a:r>
              <a:rPr lang="en-US" sz="1250" dirty="0" err="1">
                <a:solidFill>
                  <a:srgbClr val="374151"/>
                </a:solidFill>
              </a:rPr>
              <a:t>최근</a:t>
            </a:r>
            <a:r>
              <a:rPr lang="en-US" sz="1250" dirty="0">
                <a:solidFill>
                  <a:srgbClr val="374151"/>
                </a:solidFill>
              </a:rPr>
              <a:t> 1</a:t>
            </a:r>
            <a:r>
              <a:rPr lang="ko-KR" altLang="en-US" sz="1250" dirty="0">
                <a:solidFill>
                  <a:srgbClr val="374151"/>
                </a:solidFill>
              </a:rPr>
              <a:t>주 </a:t>
            </a:r>
            <a:r>
              <a:rPr lang="en-US" sz="1250" dirty="0" err="1">
                <a:solidFill>
                  <a:srgbClr val="374151"/>
                </a:solidFill>
              </a:rPr>
              <a:t>사용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여부</a:t>
            </a:r>
            <a:r>
              <a:rPr lang="en-US" sz="1250" dirty="0">
                <a:solidFill>
                  <a:srgbClr val="374151"/>
                </a:solidFill>
              </a:rPr>
              <a:t>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주중·주말 이용시간, 기기/콘텐츠(복수응답),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추천/검색 성향, 몰아보기, 인구통계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전처리 규칙(요약)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8920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수치형: 중앙값 대체 + 표준화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범주형: </a:t>
            </a:r>
            <a:r>
              <a:rPr lang="en-US" sz="1250" dirty="0" err="1">
                <a:solidFill>
                  <a:srgbClr val="374151"/>
                </a:solidFill>
              </a:rPr>
              <a:t>최빈값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대체</a:t>
            </a:r>
            <a:r>
              <a:rPr lang="en-US" sz="1250" dirty="0">
                <a:solidFill>
                  <a:srgbClr val="374151"/>
                </a:solidFill>
              </a:rPr>
              <a:t> 또는 </a:t>
            </a:r>
            <a:r>
              <a:rPr lang="en-US" sz="1250" dirty="0" err="1">
                <a:solidFill>
                  <a:srgbClr val="374151"/>
                </a:solidFill>
              </a:rPr>
              <a:t>no_answer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범주 </a:t>
            </a:r>
            <a:r>
              <a:rPr lang="en-US" sz="1250" dirty="0" err="1">
                <a:solidFill>
                  <a:srgbClr val="374151"/>
                </a:solidFill>
              </a:rPr>
              <a:t>추가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복수응답: 0/1 multi-hot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모델 학습용: train/test split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160020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600200"/>
            <a:ext cx="73152" cy="7772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72821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DB: ott_survey_raw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47688" y="200253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원본 설문 데이터 적재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19388" y="2414016"/>
            <a:ext cx="329184" cy="256032"/>
          </a:xfrm>
          <a:prstGeom prst="down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69748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697480"/>
            <a:ext cx="7315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282549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전처리 → ott_user_features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47688" y="309981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null 처리 · multi-hot · 스케일링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9388" y="3511296"/>
            <a:ext cx="329184" cy="256032"/>
          </a:xfrm>
          <a:prstGeom prst="down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79476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794760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392277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모델 A (Regression)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47688" y="41970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예상 이용시간(use_time_pred) 추정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19388" y="4608576"/>
            <a:ext cx="329184" cy="256032"/>
          </a:xfrm>
          <a:prstGeom prst="downArrow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892040"/>
            <a:ext cx="50749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46520" y="4892040"/>
            <a:ext cx="73152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502005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모델 B (</a:t>
            </a:r>
            <a:r>
              <a:rPr lang="en-US" sz="1300" b="1" dirty="0" err="1">
                <a:solidFill>
                  <a:srgbClr val="111827"/>
                </a:solidFill>
              </a:rPr>
              <a:t>Risk_Grouping</a:t>
            </a:r>
            <a:r>
              <a:rPr lang="en-US" sz="1300" b="1" dirty="0">
                <a:solidFill>
                  <a:srgbClr val="111827"/>
                </a:solidFill>
              </a:rPr>
              <a:t>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47688" y="52943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6B7280"/>
                </a:solidFill>
              </a:rPr>
              <a:t>risk_score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ko-KR" altLang="en-US" sz="1150" dirty="0">
                <a:solidFill>
                  <a:srgbClr val="6B7280"/>
                </a:solidFill>
              </a:rPr>
              <a:t>기반 적정</a:t>
            </a:r>
            <a:r>
              <a:rPr lang="en-US" altLang="ko-KR" sz="1150" dirty="0">
                <a:solidFill>
                  <a:srgbClr val="6B7280"/>
                </a:solidFill>
              </a:rPr>
              <a:t>/</a:t>
            </a:r>
            <a:r>
              <a:rPr lang="ko-KR" altLang="en-US" sz="1150" dirty="0">
                <a:solidFill>
                  <a:srgbClr val="6B7280"/>
                </a:solidFill>
              </a:rPr>
              <a:t>주의</a:t>
            </a:r>
            <a:r>
              <a:rPr lang="en-US" altLang="ko-KR" sz="1150" dirty="0">
                <a:solidFill>
                  <a:srgbClr val="6B7280"/>
                </a:solidFill>
              </a:rPr>
              <a:t>/</a:t>
            </a:r>
            <a:r>
              <a:rPr lang="ko-KR" altLang="en-US" sz="1150" dirty="0">
                <a:solidFill>
                  <a:srgbClr val="6B7280"/>
                </a:solidFill>
              </a:rPr>
              <a:t>위험 그룹화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990" y="341376"/>
            <a:ext cx="11417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개발목표 ②  |  기능 2: 광고형 요금제 시뮬레이션 + </a:t>
            </a:r>
            <a:r>
              <a:rPr lang="ko-KR" alt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 전략 추천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“혜택 제공/요금제 전환” 시나리오를 비교해 의사결정 지원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577840" cy="5349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536192"/>
            <a:ext cx="50749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기능 2 핵심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모델 C (Regression)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Target: ad_plan_intent (1~5점)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Input: 기능1의 </a:t>
            </a:r>
            <a:r>
              <a:rPr lang="ko-KR" altLang="en-US" sz="1250" dirty="0">
                <a:solidFill>
                  <a:srgbClr val="374151"/>
                </a:solidFill>
              </a:rPr>
              <a:t>분석용</a:t>
            </a:r>
            <a:r>
              <a:rPr lang="en-US" sz="1250" dirty="0">
                <a:solidFill>
                  <a:srgbClr val="374151"/>
                </a:solidFill>
              </a:rPr>
              <a:t> feature + </a:t>
            </a:r>
            <a:r>
              <a:rPr lang="en-US" sz="1250" dirty="0" err="1">
                <a:solidFill>
                  <a:srgbClr val="374151"/>
                </a:solidFill>
              </a:rPr>
              <a:t>광고형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요금제 </a:t>
            </a:r>
            <a:r>
              <a:rPr lang="en-US" sz="1250" dirty="0" err="1">
                <a:solidFill>
                  <a:srgbClr val="374151"/>
                </a:solidFill>
              </a:rPr>
              <a:t>관련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ko-KR" altLang="en-US" sz="1250" dirty="0">
                <a:solidFill>
                  <a:srgbClr val="374151"/>
                </a:solidFill>
              </a:rPr>
              <a:t>설문 </a:t>
            </a:r>
            <a:r>
              <a:rPr lang="en-US" sz="1250" dirty="0" err="1">
                <a:solidFill>
                  <a:srgbClr val="374151"/>
                </a:solidFill>
              </a:rPr>
              <a:t>문항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ko-KR" altLang="en-US" sz="1250" dirty="0">
                <a:solidFill>
                  <a:srgbClr val="374151"/>
                </a:solidFill>
              </a:rPr>
              <a:t>광고형 요금제 이용 의향을 예측하고</a:t>
            </a:r>
            <a:endParaRPr lang="en-US" altLang="ko-KR" sz="12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ko-KR" altLang="en-US" sz="1250" dirty="0">
                <a:solidFill>
                  <a:srgbClr val="374151"/>
                </a:solidFill>
              </a:rPr>
              <a:t>이를 바탕으로 광고 수용 가능성 및 가격 민감도를 보조적으로 해석하여</a:t>
            </a:r>
            <a:r>
              <a:rPr lang="en-US" sz="1250" dirty="0" err="1">
                <a:solidFill>
                  <a:srgbClr val="374151"/>
                </a:solidFill>
              </a:rPr>
              <a:t>쿠폰·할인·요금제</a:t>
            </a:r>
            <a:r>
              <a:rPr lang="en-US" sz="1250" dirty="0">
                <a:solidFill>
                  <a:srgbClr val="374151"/>
                </a:solidFill>
              </a:rPr>
              <a:t> 전환 제안을 시뮬레이션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4663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11827"/>
                </a:solidFill>
              </a:rPr>
              <a:t>후보</a:t>
            </a:r>
            <a:r>
              <a:rPr lang="en-US" sz="1300" b="1" dirty="0">
                <a:solidFill>
                  <a:srgbClr val="111827"/>
                </a:solidFill>
              </a:rPr>
              <a:t> </a:t>
            </a:r>
            <a:r>
              <a:rPr lang="en-US" sz="1300" b="1" dirty="0" err="1">
                <a:solidFill>
                  <a:srgbClr val="111827"/>
                </a:solidFill>
              </a:rPr>
              <a:t>모델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937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</a:rPr>
              <a:t>• RandomForestRegressor </a:t>
            </a:r>
            <a:r>
              <a:rPr lang="en-US" sz="1250" dirty="0" err="1">
                <a:solidFill>
                  <a:srgbClr val="374151"/>
                </a:solidFill>
              </a:rPr>
              <a:t>또는</a:t>
            </a:r>
            <a:r>
              <a:rPr lang="en-US" sz="1250" dirty="0">
                <a:solidFill>
                  <a:srgbClr val="374151"/>
                </a:solidFill>
              </a:rPr>
              <a:t> </a:t>
            </a:r>
            <a:r>
              <a:rPr lang="en-US" sz="1250" dirty="0" err="1">
                <a:solidFill>
                  <a:srgbClr val="374151"/>
                </a:solidFill>
              </a:rPr>
              <a:t>XGBoostRegressor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20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827"/>
                </a:solidFill>
              </a:rPr>
              <a:t>개발</a:t>
            </a:r>
            <a:r>
              <a:rPr lang="en-US" sz="1600" b="1" dirty="0">
                <a:solidFill>
                  <a:srgbClr val="111827"/>
                </a:solidFill>
              </a:rPr>
              <a:t> 흐</a:t>
            </a:r>
            <a:r>
              <a:rPr lang="ko-KR" altLang="en-US" sz="1600" b="1" dirty="0" err="1">
                <a:solidFill>
                  <a:srgbClr val="111827"/>
                </a:solidFill>
              </a:rPr>
              <a:t>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2148840"/>
            <a:ext cx="45262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2258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1. 데이터 적재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49640" y="2258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raw 테이블 적재 + 스키마 고정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0840" y="2834640"/>
            <a:ext cx="45262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2944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2. 전처리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49640" y="2944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null/복수응답 처리 → features 테이블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3520440"/>
            <a:ext cx="45262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3630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3. 모델 학습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49640" y="3630168"/>
            <a:ext cx="2689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기능1(</a:t>
            </a:r>
            <a:r>
              <a:rPr lang="ko-KR" altLang="en-US" sz="1150" dirty="0">
                <a:solidFill>
                  <a:srgbClr val="6B7280"/>
                </a:solidFill>
              </a:rPr>
              <a:t>이용시간 예측 </a:t>
            </a:r>
            <a:r>
              <a:rPr lang="en-US" altLang="ko-KR" sz="1150" dirty="0">
                <a:solidFill>
                  <a:srgbClr val="6B7280"/>
                </a:solidFill>
              </a:rPr>
              <a:t>+ </a:t>
            </a:r>
            <a:r>
              <a:rPr lang="ko-KR" altLang="en-US" sz="1150" dirty="0" err="1">
                <a:solidFill>
                  <a:srgbClr val="6B7280"/>
                </a:solidFill>
              </a:rPr>
              <a:t>위험군</a:t>
            </a:r>
            <a:r>
              <a:rPr lang="ko-KR" altLang="en-US" sz="1150" dirty="0">
                <a:solidFill>
                  <a:srgbClr val="6B7280"/>
                </a:solidFill>
              </a:rPr>
              <a:t> 그룹화</a:t>
            </a:r>
            <a:r>
              <a:rPr lang="en-US" sz="1150" dirty="0">
                <a:solidFill>
                  <a:srgbClr val="6B7280"/>
                </a:solidFill>
              </a:rPr>
              <a:t>) 기능2(</a:t>
            </a:r>
            <a:r>
              <a:rPr lang="ko-KR" altLang="en-US" sz="1150" dirty="0">
                <a:solidFill>
                  <a:srgbClr val="6B7280"/>
                </a:solidFill>
              </a:rPr>
              <a:t>광고형 요금제 의향 예측</a:t>
            </a:r>
            <a:r>
              <a:rPr lang="en-US" sz="1150" dirty="0">
                <a:solidFill>
                  <a:srgbClr val="6B7280"/>
                </a:solidFill>
              </a:rPr>
              <a:t>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4206240"/>
            <a:ext cx="45262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43159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4. 결과 저장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4315968"/>
            <a:ext cx="2862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result </a:t>
            </a:r>
            <a:r>
              <a:rPr lang="en-US" sz="1150" dirty="0" err="1">
                <a:solidFill>
                  <a:srgbClr val="6B7280"/>
                </a:solidFill>
              </a:rPr>
              <a:t>테이블에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en-US" sz="1150" dirty="0" err="1">
                <a:solidFill>
                  <a:srgbClr val="6B7280"/>
                </a:solidFill>
              </a:rPr>
              <a:t>risk_group</a:t>
            </a:r>
            <a:r>
              <a:rPr lang="en-US" sz="1150" dirty="0">
                <a:solidFill>
                  <a:srgbClr val="6B7280"/>
                </a:solidFill>
              </a:rPr>
              <a:t>/</a:t>
            </a:r>
            <a:r>
              <a:rPr lang="en-US" sz="1150" dirty="0" err="1">
                <a:solidFill>
                  <a:srgbClr val="6B7280"/>
                </a:solidFill>
              </a:rPr>
              <a:t>user_type</a:t>
            </a:r>
            <a:r>
              <a:rPr lang="en-US" sz="1150" dirty="0">
                <a:solidFill>
                  <a:srgbClr val="6B7280"/>
                </a:solidFill>
              </a:rPr>
              <a:t>/</a:t>
            </a:r>
            <a:r>
              <a:rPr lang="en-US" sz="1150" dirty="0" err="1">
                <a:solidFill>
                  <a:srgbClr val="6B7280"/>
                </a:solidFill>
              </a:rPr>
              <a:t>ad_plan_</a:t>
            </a:r>
            <a:r>
              <a:rPr lang="en-US" sz="1150" err="1">
                <a:solidFill>
                  <a:srgbClr val="6B7280"/>
                </a:solidFill>
              </a:rPr>
              <a:t>intent</a:t>
            </a:r>
            <a:r>
              <a:rPr lang="en-US" sz="1150">
                <a:solidFill>
                  <a:srgbClr val="6B7280"/>
                </a:solidFill>
              </a:rPr>
              <a:t>_pred </a:t>
            </a:r>
            <a:r>
              <a:rPr lang="en-US" sz="1150" dirty="0">
                <a:solidFill>
                  <a:srgbClr val="6B7280"/>
                </a:solidFill>
              </a:rPr>
              <a:t>저장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4892040"/>
            <a:ext cx="45262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5001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5. 시뮬레이션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49640" y="5001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혜택/</a:t>
            </a:r>
            <a:r>
              <a:rPr lang="en-US" sz="1150" dirty="0" err="1">
                <a:solidFill>
                  <a:srgbClr val="6B7280"/>
                </a:solidFill>
              </a:rPr>
              <a:t>전환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ko-KR" altLang="en-US" sz="1150" dirty="0">
                <a:solidFill>
                  <a:srgbClr val="6B7280"/>
                </a:solidFill>
              </a:rPr>
              <a:t>시나리오 적용</a:t>
            </a:r>
            <a:endParaRPr lang="en-US" altLang="ko-KR" sz="1150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 → </a:t>
            </a:r>
            <a:r>
              <a:rPr lang="en-US" sz="1150" dirty="0" err="1">
                <a:solidFill>
                  <a:srgbClr val="6B7280"/>
                </a:solidFill>
              </a:rPr>
              <a:t>위험도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en-US" sz="1150" dirty="0" err="1">
                <a:solidFill>
                  <a:srgbClr val="6B7280"/>
                </a:solidFill>
              </a:rPr>
              <a:t>변화</a:t>
            </a:r>
            <a:r>
              <a:rPr lang="en-US" sz="1150" dirty="0">
                <a:solidFill>
                  <a:srgbClr val="6B7280"/>
                </a:solidFill>
              </a:rPr>
              <a:t> </a:t>
            </a:r>
            <a:r>
              <a:rPr lang="ko-KR" altLang="en-US" sz="1150" dirty="0">
                <a:solidFill>
                  <a:srgbClr val="6B7280"/>
                </a:solidFill>
              </a:rPr>
              <a:t>및 전략 효과</a:t>
            </a:r>
            <a:r>
              <a:rPr lang="en-US" sz="1150" dirty="0">
                <a:solidFill>
                  <a:srgbClr val="6B7280"/>
                </a:solidFill>
              </a:rPr>
              <a:t> 비교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20840" y="5577840"/>
            <a:ext cx="4526280" cy="566928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56875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6. UI/리포트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49640" y="5687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대시보드/리포트로 요약 + 추천 액션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20840" y="5989320"/>
            <a:ext cx="4526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62362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시뮬레이션 출력 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9640" y="606247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374151"/>
                </a:solidFill>
              </a:rPr>
              <a:t>전략 적용 전</a:t>
            </a:r>
            <a:r>
              <a:rPr lang="en-US" altLang="ko-KR" sz="1150" dirty="0">
                <a:solidFill>
                  <a:srgbClr val="374151"/>
                </a:solidFill>
              </a:rPr>
              <a:t>/</a:t>
            </a:r>
            <a:r>
              <a:rPr lang="ko-KR" altLang="en-US" sz="1150" dirty="0">
                <a:solidFill>
                  <a:srgbClr val="374151"/>
                </a:solidFill>
              </a:rPr>
              <a:t>후 </a:t>
            </a:r>
            <a:r>
              <a:rPr lang="ko-KR" altLang="en-US" sz="1150" dirty="0" err="1">
                <a:solidFill>
                  <a:srgbClr val="374151"/>
                </a:solidFill>
              </a:rPr>
              <a:t>위험군</a:t>
            </a:r>
            <a:r>
              <a:rPr lang="ko-KR" altLang="en-US" sz="1150" dirty="0">
                <a:solidFill>
                  <a:srgbClr val="374151"/>
                </a:solidFill>
              </a:rPr>
              <a:t> 변화</a:t>
            </a:r>
            <a:endParaRPr lang="en-US" altLang="ko-KR" sz="11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ko-KR" altLang="en-US" sz="1150" dirty="0">
                <a:solidFill>
                  <a:srgbClr val="374151"/>
                </a:solidFill>
              </a:rPr>
              <a:t>광고형 요금제 수용 가능성</a:t>
            </a:r>
            <a:endParaRPr lang="en-US" altLang="ko-KR" sz="1150" dirty="0">
              <a:solidFill>
                <a:srgbClr val="374151"/>
              </a:solidFill>
            </a:endParaRPr>
          </a:p>
          <a:p>
            <a:pPr marL="0" indent="0">
              <a:buNone/>
            </a:pPr>
            <a:r>
              <a:rPr lang="ko-KR" altLang="en-US" sz="1150" dirty="0">
                <a:solidFill>
                  <a:srgbClr val="374151"/>
                </a:solidFill>
              </a:rPr>
              <a:t>혜택 비용 대비 기대 효과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928</Words>
  <Application>Microsoft Office PowerPoint</Application>
  <PresentationFormat>와이드스크린</PresentationFormat>
  <Paragraphs>107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Aptos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404_11</cp:lastModifiedBy>
  <cp:revision>8</cp:revision>
  <dcterms:created xsi:type="dcterms:W3CDTF">2026-03-17T00:50:08Z</dcterms:created>
  <dcterms:modified xsi:type="dcterms:W3CDTF">2026-03-17T07:41:52Z</dcterms:modified>
</cp:coreProperties>
</file>