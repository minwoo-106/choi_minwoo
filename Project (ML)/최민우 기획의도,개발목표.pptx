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[Sources]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This slide is an original design created for the user. No external factual claims or assets were used.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[/Sources]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Deloitte press release (Digital Media Trends, 2025): https://www.deloitte.com/us/en/about/press-room/digital-media-trends-consumption-habits-survey.html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Deloitte report page (2025 Digital Media Trends): https://www.deloitte.com/us/en/insights/industry/technology/digital-media-trends-consumption-habits-survey/2025.html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Image (Unsplash): https://images.unsplash.com/photo-1584905066893-7d5c142ba4e1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[/Sources]</a:t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ETNews (모바일인덱스 인용, 2026년 2월 OTT MAU 및 전월 대비 변화): https://www.etnews.com/20260309000306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Image (Unsplash): https://images.unsplash.com/photo-1560169897-fc0cdbdfa4d5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[/Sources]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(Method reference) Deloitte Digital Media Trends에서 ‘해지/재구독’ 및 ‘가치 대비 가격’ 지표가 리텐션 중요성 근거로 활용 가능: https://www.deloitte.com/us/en/about/press-room/digital-media-trends-consumption-habits-survey.html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[/Sources]</a:t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Background motivation for retention/price sensitivity (Deloitte Digital Media Trends 2025): https://www.deloitte.com/us/en/insights/industry/technology/digital-media-trends-consumption-habits-survey/2025.html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[/Sources]</a:t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531908" y="1220525"/>
            <a:ext cx="9648000" cy="15729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DE6F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C6D4F5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9226054" y="5514825"/>
            <a:ext cx="1878300" cy="7188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DE6F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C6D4F5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9499097" y="5588483"/>
            <a:ext cx="1823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3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2026.03.17 </a:t>
            </a:r>
            <a:r>
              <a:rPr lang="en-US" sz="1350">
                <a:solidFill>
                  <a:srgbClr val="6B7280"/>
                </a:solidFill>
              </a:rPr>
              <a:t>최민우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885607" y="630885"/>
            <a:ext cx="929430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000"/>
              <a:buFont typeface="Malgun Gothic"/>
              <a:buNone/>
            </a:pPr>
            <a:r>
              <a:rPr b="1" lang="en-US" sz="40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유지 이탈 방지 및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000"/>
              <a:buFont typeface="Malgun Gothic"/>
              <a:buNone/>
            </a:pPr>
            <a:r>
              <a:rPr b="1" lang="en-US" sz="40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리텐션 최적화를 위한 생성형 AI 서비스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기획의도 ①  |  OTT 구독 전쟁의 핵심은 “유지(리텐션)”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획득 비용이 커질수록, 이탈(해지) 방어가 곧 매출 방어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4"/>
          <p:cNvCxnSpPr/>
          <p:nvPr/>
        </p:nvCxnSpPr>
        <p:spPr>
          <a:xfrm>
            <a:off x="685800" y="1234440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/>
          <p:nvPr/>
        </p:nvSpPr>
        <p:spPr>
          <a:xfrm>
            <a:off x="685800" y="1463040"/>
            <a:ext cx="1097280" cy="320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1508761"/>
            <a:ext cx="832104" cy="237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가격 인상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920240" y="1463040"/>
            <a:ext cx="1207008" cy="320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029968" y="1388873"/>
            <a:ext cx="190195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콘텐츠 분산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264408" y="1463040"/>
            <a:ext cx="1316736" cy="320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383280" y="1438657"/>
            <a:ext cx="1316736" cy="357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추천 만족도↓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85800" y="1810512"/>
            <a:ext cx="3511296" cy="320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86968" y="186537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구독 피로(Subscription fatigue)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5800" y="2249424"/>
            <a:ext cx="6537960" cy="1773936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85800" y="2249424"/>
            <a:ext cx="73152" cy="1773936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914400" y="2240280"/>
            <a:ext cx="6537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39%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14400" y="2990088"/>
            <a:ext cx="6537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최근 6개월 내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유료 스트리밍(SVOD) 1개 이상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해지 경험 (Deloitte, 2025)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85800" y="4160520"/>
            <a:ext cx="33375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68680" y="42976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41%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920240" y="4315968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콘텐츠 가치가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가격만큼 “아깝다”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251960" y="4160520"/>
            <a:ext cx="33375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34840" y="42976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24%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0" y="4315968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해지 후 “재구독”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(churn &amp; return)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27046">
            <a:off x="7978924" y="1749100"/>
            <a:ext cx="3936396" cy="7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55322">
            <a:off x="7633489" y="2514799"/>
            <a:ext cx="4201797" cy="667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35772">
            <a:off x="7841325" y="3357174"/>
            <a:ext cx="4125649" cy="818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09042">
            <a:off x="7633991" y="4205691"/>
            <a:ext cx="4524967" cy="893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404453">
            <a:off x="7713584" y="5047100"/>
            <a:ext cx="4041617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기획의도 ②  |  국내 OTT도 “변동성” 확대 (MAU 변화)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플랫폼별 이용자 규모/성장세가 엇갈리며, 유지 전략 중요성↑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5"/>
          <p:cNvCxnSpPr/>
          <p:nvPr/>
        </p:nvCxnSpPr>
        <p:spPr>
          <a:xfrm>
            <a:off x="685800" y="1234440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5"/>
          <p:cNvSpPr/>
          <p:nvPr/>
        </p:nvSpPr>
        <p:spPr>
          <a:xfrm>
            <a:off x="685800" y="14173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2026년 2월 OTT MAU (만 명)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83080"/>
            <a:ext cx="781812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685800" y="5897880"/>
            <a:ext cx="10835640" cy="749808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68680" y="605332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전월 대비 변화(요약):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880350" y="6035023"/>
            <a:ext cx="84582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넷플릭스 -64만  |  웨이브 -25만  |  디즈니+ +89만  |  쿠팡플레이 +50만  |  티빙 +18만</a:t>
            </a:r>
            <a:endParaRPr sz="12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https://www.etnews.com/20260309000306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2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7982">
            <a:off x="8569728" y="1783075"/>
            <a:ext cx="3423522" cy="6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7552" y="3158967"/>
            <a:ext cx="3060797" cy="5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96791">
            <a:off x="8522850" y="2615700"/>
            <a:ext cx="3474952" cy="589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61209">
            <a:off x="8657136" y="3663426"/>
            <a:ext cx="3533066" cy="74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67263" y="4535418"/>
            <a:ext cx="3512801" cy="571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685800" y="411480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개발목표 ①  |  기능 1: 이용행태 기반 이탈 위험 진단 리포트 제공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85800" y="868680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이용행태 데이터를 분석해 운영자가 즉시 이해할 수 있는 진단 결과 제공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6"/>
          <p:cNvCxnSpPr/>
          <p:nvPr/>
        </p:nvCxnSpPr>
        <p:spPr>
          <a:xfrm>
            <a:off x="685800" y="1234440"/>
            <a:ext cx="108357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6"/>
          <p:cNvSpPr/>
          <p:nvPr/>
        </p:nvSpPr>
        <p:spPr>
          <a:xfrm>
            <a:off x="685800" y="1508751"/>
            <a:ext cx="5440800" cy="46197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960120" y="169164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운영자에게 제공되는 기능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960120" y="1965960"/>
            <a:ext cx="4937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이용행태 데이터 기반 이용자 유형 자동 분류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이탈 위험 점수와 위험군(안정/주의/위험) 제공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핵심 특성 요약이 포함된 진단 리포트 생성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운영자가 바로 활용할 수 있는 결과 화면 제공</a:t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960120" y="324612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주요 입력 정보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60125" y="3649325"/>
            <a:ext cx="49377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요금제/광고형 여부, 최근 사용 여부, 이용 빈도,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주중·주말 이용시간, 시청 기기, 콘텐츠 선호,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추천/검색 성향, 몰아보기 성향, 기본 인구통계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960120" y="461772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리포트 화면 예시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60120" y="4892040"/>
            <a:ext cx="49377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이용자 유형 태그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이탈 위험 점수(0~100)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위험군 배지(안정/주의/위험)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핵심 행동 특성 요약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446520" y="1600200"/>
            <a:ext cx="50748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446520" y="1600200"/>
            <a:ext cx="73200" cy="777300"/>
          </a:xfrm>
          <a:prstGeom prst="rect">
            <a:avLst/>
          </a:prstGeom>
          <a:solidFill>
            <a:srgbClr val="374151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647688" y="1728216"/>
            <a:ext cx="470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1. 사용자 데이터 수집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647688" y="2002536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이용행태·선호도 데이터 수집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819388" y="2414016"/>
            <a:ext cx="3291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446520" y="2697480"/>
            <a:ext cx="50748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446520" y="2697480"/>
            <a:ext cx="73200" cy="777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647688" y="2825496"/>
            <a:ext cx="470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2. 이용 패턴 분석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647688" y="3099816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행동 특성 기반 성향 태그 생성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819388" y="3511296"/>
            <a:ext cx="3291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446520" y="3794760"/>
            <a:ext cx="50748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446520" y="3794760"/>
            <a:ext cx="73200" cy="7773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647688" y="3922776"/>
            <a:ext cx="470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3. 이탈 위험 진단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647688" y="4197096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이탈 위험 점수와 위험군 산출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819388" y="4608576"/>
            <a:ext cx="3291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446520" y="4892040"/>
            <a:ext cx="50748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446520" y="4892040"/>
            <a:ext cx="73200" cy="7773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647688" y="5020056"/>
            <a:ext cx="470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4. 결과 리포트 제공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647688" y="5294376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운영자/관리자가 바로 확인 가능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554990" y="341376"/>
            <a:ext cx="114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개발목표 ①  |  기능 1: 이탈 위험 이용자 조회 및 관리 지원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85800" y="868680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진단 결과를 바탕으로 운영자가 빠르게 선별·관리할 수 있는 화면 구성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685800" y="1234440"/>
            <a:ext cx="108357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685800" y="1536200"/>
            <a:ext cx="5577900" cy="48741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355075" y="1536199"/>
            <a:ext cx="5074800" cy="487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005870" y="183134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기능 1 활용 화면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960120" y="2258575"/>
            <a:ext cx="52122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대시보드에서 위험군 비율, 이용자 유형 분포,</a:t>
            </a:r>
            <a:b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최근 진단 결과를 한눈에 확인</a:t>
            </a:r>
            <a:b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위험군 사용자만 필터링하여</a:t>
            </a:r>
            <a:b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우선 관리 대상을 빠르게 선별</a:t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005870" y="4206240"/>
            <a:ext cx="512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상세 제공 항목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005875" y="4560250"/>
            <a:ext cx="5120700" cy="15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유형 태그</a:t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위험 점수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위험군 분류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주요 행동 특성 요약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운영 참고 메모/관리 이력</a:t>
            </a:r>
            <a:endParaRPr sz="1800"/>
          </a:p>
        </p:txBody>
      </p:sp>
      <p:sp>
        <p:nvSpPr>
          <p:cNvPr id="114" name="Google Shape;114;p7"/>
          <p:cNvSpPr/>
          <p:nvPr/>
        </p:nvSpPr>
        <p:spPr>
          <a:xfrm>
            <a:off x="6720840" y="169164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운영자 기능 구성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720840" y="21488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885432" y="22585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전체 현황 대시보드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549640" y="225856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위험군 비율 · 유형 분포 · 최근 진단 결과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720840" y="28346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885432" y="29443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위험군 필터링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549640" y="294436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주의/위험군만 조회해 우선 대응 대상 선별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720840" y="35204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885432" y="36301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사용자 상세 보기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549640" y="3630168"/>
            <a:ext cx="26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이용 데이터, 유형 태그, 위험 점수 확인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720840" y="42062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885432" y="43159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관리 메모/대응 기록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8549640" y="4315968"/>
            <a:ext cx="286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운영 참고 메모 및 관리 이력 기록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720840" y="48920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885432" y="50017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결과 저장 · 내보내기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8549640" y="500176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CSV 저장 및 내부 보고 자료 활용</a:t>
            </a:r>
            <a:endParaRPr sz="11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720840" y="55778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885432" y="56875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운영 리포트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8549640" y="568756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주간/월간 위험군 현황 요약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