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22860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4688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 Title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051560" y="109728"/>
            <a:ext cx="155448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97280" y="109728"/>
            <a:ext cx="1463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화면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260604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62432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ID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3429000" y="109728"/>
            <a:ext cx="146304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474720" y="10972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MAIN-01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489204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91032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Author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5715000" y="109728"/>
            <a:ext cx="128016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760720" y="109728"/>
            <a:ext cx="11887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최민우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699516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701344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Date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7818120" y="109728"/>
            <a:ext cx="137160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7863840" y="10972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2026.03.17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228600" y="365760"/>
            <a:ext cx="91440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246888" y="3657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Path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1143000" y="365760"/>
            <a:ext cx="521208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88720" y="36576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&gt; 홈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9171432" y="749808"/>
            <a:ext cx="2724912" cy="34747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9217152" y="749808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9171432" y="1133856"/>
            <a:ext cx="2724912" cy="530094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9217152" y="1399202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9472298" y="1399202"/>
            <a:ext cx="2423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네비게이션바 입니다.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9228710" y="2255397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9228710" y="3316392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9381744" y="2121309"/>
            <a:ext cx="24231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요약 영역, 주요 분석 현황과 핵심 지표를 한눈에 확인 가능합니다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9217152" y="4359133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9371239" y="3159638"/>
            <a:ext cx="2625278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단계를 색상으로 구분하여 보여주는 영역, 분석 결과의 위험 수준을 직관적으로 확인 가능합니다.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9326196" y="4220633"/>
            <a:ext cx="2625278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적용 시나리오를 실행하는 영역, 시뮬레이션 결과로 예상 위험도 개선 효과를 확인할 수 있습니다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548298" y="1772825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1315574" y="1478083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2146789" y="1920195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2914065" y="1699139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3809220" y="1551768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4512556" y="1846510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5599530" y="1625454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6430745" y="1920195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7453779" y="1699139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8221055" y="1846510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867996" y="2583364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1827091" y="2362308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2658306" y="2657049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3425582" y="2435993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4192858" y="2730735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5024073" y="2509678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5855288" y="2804420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6750443" y="2509678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7709538" y="2657049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676177" y="4499184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1507393" y="4720240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2466487" y="4425498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3297703" y="4572869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4064978" y="4793925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4832254" y="4499184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5791349" y="4646555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6686504" y="4425498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7773478" y="4720240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"/>
          <p:cNvSpPr/>
          <p:nvPr/>
        </p:nvSpPr>
        <p:spPr>
          <a:xfrm>
            <a:off x="228600" y="888600"/>
            <a:ext cx="8525100" cy="479100"/>
          </a:xfrm>
          <a:prstGeom prst="rect">
            <a:avLst/>
          </a:prstGeom>
          <a:solidFill>
            <a:srgbClr val="031025">
              <a:alpha val="90200"/>
            </a:srgbClr>
          </a:solidFill>
          <a:ln cap="flat" cmpd="sng" w="8875">
            <a:solidFill>
              <a:srgbClr val="0310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356479" y="936495"/>
            <a:ext cx="10230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9"/>
              <a:buFont typeface="Malgun Gothic"/>
              <a:buNone/>
            </a:pPr>
            <a:r>
              <a:rPr b="1" i="0" lang="en-US" sz="125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Insight</a:t>
            </a:r>
            <a:endParaRPr b="0" i="0" sz="125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1785530" y="1035971"/>
            <a:ext cx="1087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Malgun Gothic"/>
              <a:buNone/>
            </a:pPr>
            <a:r>
              <a:rPr b="0" i="0" lang="en-US" sz="734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위험도</a:t>
            </a:r>
            <a:r>
              <a:rPr b="1" i="0" lang="en-US" sz="734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분석</a:t>
            </a:r>
            <a:endParaRPr b="0" i="0" sz="734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2914065" y="1035971"/>
            <a:ext cx="1087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34"/>
              <a:buFont typeface="Malgun Gothic"/>
              <a:buNone/>
            </a:pPr>
            <a:r>
              <a:rPr b="0" i="0" lang="en-US" sz="734" u="none" cap="none" strike="noStrike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 시뮬레이션</a:t>
            </a:r>
            <a:endParaRPr b="0" i="0" sz="734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4224828" y="1035971"/>
            <a:ext cx="1087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34"/>
              <a:buFont typeface="Malgun Gothic"/>
              <a:buNone/>
            </a:pPr>
            <a:r>
              <a:rPr b="0" i="0" lang="en-US" sz="734" u="none" cap="none" strike="noStrike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회사소개</a:t>
            </a:r>
            <a:endParaRPr b="0" i="0" sz="734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5311801" y="1035971"/>
            <a:ext cx="1087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34"/>
              <a:buFont typeface="Malgun Gothic"/>
              <a:buNone/>
            </a:pPr>
            <a:r>
              <a:rPr b="0" i="0" lang="en-US" sz="734" u="none" cap="none" strike="noStrike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문의사항</a:t>
            </a:r>
            <a:endParaRPr b="0" i="0" sz="734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6782413" y="991760"/>
            <a:ext cx="511500" cy="243300"/>
          </a:xfrm>
          <a:prstGeom prst="roundRect">
            <a:avLst>
              <a:gd fmla="val 24242" name="adj"/>
            </a:avLst>
          </a:prstGeom>
          <a:solidFill>
            <a:srgbClr val="0F1E3F"/>
          </a:solidFill>
          <a:ln cap="flat" cmpd="sng" w="8875">
            <a:solidFill>
              <a:srgbClr val="D9E2F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6855898" y="1010181"/>
            <a:ext cx="396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9"/>
              <a:buFont typeface="Malgun Gothic"/>
              <a:buNone/>
            </a:pPr>
            <a:r>
              <a:rPr b="0" i="0" lang="en-US" sz="62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 b="0" i="0" sz="62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7377052" y="991760"/>
            <a:ext cx="562500" cy="243300"/>
          </a:xfrm>
          <a:prstGeom prst="roundRect">
            <a:avLst>
              <a:gd fmla="val 24242" name="adj"/>
            </a:avLst>
          </a:prstGeom>
          <a:solidFill>
            <a:srgbClr val="4E7DFF"/>
          </a:solidFill>
          <a:ln cap="flat" cmpd="sng" w="8875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7421810" y="995444"/>
            <a:ext cx="511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9"/>
              <a:buFont typeface="Malgun Gothic"/>
              <a:buNone/>
            </a:pPr>
            <a:r>
              <a:rPr b="0" i="0" lang="en-US" sz="62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</a:t>
            </a:r>
            <a:endParaRPr b="0" i="0" sz="62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644208" y="1699138"/>
            <a:ext cx="2543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48"/>
              <a:buFont typeface="Malgun Gothic"/>
              <a:buNone/>
            </a:pPr>
            <a:r>
              <a:rPr b="1" i="0" lang="en-US" sz="1748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유저 이탈 방지</a:t>
            </a:r>
            <a:endParaRPr b="0" i="0" sz="174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644207" y="2168431"/>
            <a:ext cx="24105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3FF"/>
              </a:buClr>
              <a:buSzPts val="769"/>
              <a:buFont typeface="Malgun Gothic"/>
              <a:buNone/>
            </a:pPr>
            <a:r>
              <a:rPr b="0" i="0" lang="en-US" sz="769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기반 위험도 분석 · 마케팅 시뮬레이션</a:t>
            </a:r>
            <a:endParaRPr b="0" i="0" sz="76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5343771" y="1588611"/>
            <a:ext cx="2397600" cy="1628400"/>
          </a:xfrm>
          <a:prstGeom prst="roundRect">
            <a:avLst>
              <a:gd fmla="val 8235" name="adj"/>
            </a:avLst>
          </a:prstGeom>
          <a:solidFill>
            <a:srgbClr val="F1F4FB"/>
          </a:solidFill>
          <a:ln cap="flat" cmpd="sng" w="8875">
            <a:solidFill>
              <a:srgbClr val="94A9E2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9">
              <a:highlight>
                <a:srgbClr val="FFFFFF"/>
              </a:highlight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5567560" y="1750719"/>
            <a:ext cx="639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9"/>
              <a:buFont typeface="Malgun Gothic"/>
              <a:buNone/>
            </a:pPr>
            <a:r>
              <a:rPr b="1" i="0" lang="en-US" sz="769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</a:t>
            </a:r>
            <a:endParaRPr b="0" i="0" sz="76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5567560" y="1957038"/>
            <a:ext cx="524100" cy="405000"/>
          </a:xfrm>
          <a:prstGeom prst="roundRect">
            <a:avLst>
              <a:gd fmla="val 14545" name="adj"/>
            </a:avLst>
          </a:prstGeom>
          <a:solidFill>
            <a:srgbClr val="16254B"/>
          </a:solidFill>
          <a:ln cap="flat" cmpd="sng" w="8875">
            <a:solidFill>
              <a:srgbClr val="162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5685311" y="1999481"/>
            <a:ext cx="4230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9"/>
              <a:buFont typeface="Malgun Gothic"/>
              <a:buNone/>
            </a:pPr>
            <a:r>
              <a:rPr b="1" i="0" lang="en-US" sz="11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72</a:t>
            </a:r>
            <a:endParaRPr b="0" i="0" sz="111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5667394" y="2214937"/>
            <a:ext cx="351600" cy="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FB"/>
              </a:buClr>
              <a:buSzPts val="469"/>
              <a:buFont typeface="Malgun Gothic"/>
              <a:buNone/>
            </a:pPr>
            <a:r>
              <a:rPr b="0" i="0" lang="en-US" sz="469" u="none" cap="none" strike="noStrike">
                <a:solidFill>
                  <a:srgbClr val="C7D5FB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리포트 사용자</a:t>
            </a:r>
            <a:endParaRPr b="0" i="0" sz="46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6206956" y="1957038"/>
            <a:ext cx="524100" cy="405000"/>
          </a:xfrm>
          <a:prstGeom prst="roundRect">
            <a:avLst>
              <a:gd fmla="val 14545" name="adj"/>
            </a:avLst>
          </a:prstGeom>
          <a:solidFill>
            <a:srgbClr val="16254B"/>
          </a:solidFill>
          <a:ln cap="flat" cmpd="sng" w="8875">
            <a:solidFill>
              <a:srgbClr val="162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6297138" y="2001016"/>
            <a:ext cx="305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9"/>
              <a:buFont typeface="Malgun Gothic"/>
              <a:buNone/>
            </a:pPr>
            <a:r>
              <a:rPr b="1" i="0" lang="en-US" sz="11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64</a:t>
            </a:r>
            <a:endParaRPr b="0" i="0" sz="111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6270896" y="2198893"/>
            <a:ext cx="415500" cy="1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FB"/>
              </a:buClr>
              <a:buSzPts val="469"/>
              <a:buFont typeface="Malgun Gothic"/>
              <a:buNone/>
            </a:pPr>
            <a:r>
              <a:rPr b="0" i="0" lang="en-US" sz="469" u="none" cap="none" strike="noStrike">
                <a:solidFill>
                  <a:srgbClr val="C7D5F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완료</a:t>
            </a:r>
            <a:endParaRPr b="0" i="0" sz="46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6846353" y="1957038"/>
            <a:ext cx="524100" cy="405000"/>
          </a:xfrm>
          <a:prstGeom prst="roundRect">
            <a:avLst>
              <a:gd fmla="val 14545" name="adj"/>
            </a:avLst>
          </a:prstGeom>
          <a:solidFill>
            <a:srgbClr val="16254B"/>
          </a:solidFill>
          <a:ln cap="flat" cmpd="sng" w="8875">
            <a:solidFill>
              <a:srgbClr val="162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6997570" y="2010539"/>
            <a:ext cx="1599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9"/>
              <a:buFont typeface="Malgun Gothic"/>
              <a:buNone/>
            </a:pPr>
            <a:r>
              <a:rPr b="1" i="0" lang="en-US" sz="11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11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6925478" y="2209489"/>
            <a:ext cx="408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FB"/>
              </a:buClr>
              <a:buSzPts val="469"/>
              <a:buFont typeface="Malgun Gothic"/>
              <a:buNone/>
            </a:pPr>
            <a:r>
              <a:rPr b="0" i="0" lang="en-US" sz="469" u="none" cap="none" strike="noStrike">
                <a:solidFill>
                  <a:srgbClr val="C7D5F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 추천</a:t>
            </a:r>
            <a:endParaRPr b="0" i="0" sz="46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6" name="Google Shape;166;p13"/>
          <p:cNvCxnSpPr/>
          <p:nvPr/>
        </p:nvCxnSpPr>
        <p:spPr>
          <a:xfrm>
            <a:off x="5484438" y="3142908"/>
            <a:ext cx="2127000" cy="0"/>
          </a:xfrm>
          <a:prstGeom prst="straightConnector1">
            <a:avLst/>
          </a:prstGeom>
          <a:noFill/>
          <a:ln cap="flat" cmpd="sng" w="8875">
            <a:solidFill>
              <a:srgbClr val="000000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13"/>
          <p:cNvCxnSpPr/>
          <p:nvPr/>
        </p:nvCxnSpPr>
        <p:spPr>
          <a:xfrm flipH="1" rot="10800000">
            <a:off x="5490832" y="2973267"/>
            <a:ext cx="364500" cy="137100"/>
          </a:xfrm>
          <a:prstGeom prst="straightConnector1">
            <a:avLst/>
          </a:prstGeom>
          <a:noFill/>
          <a:ln cap="flat" cmpd="sng" w="8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13"/>
          <p:cNvCxnSpPr/>
          <p:nvPr/>
        </p:nvCxnSpPr>
        <p:spPr>
          <a:xfrm flipH="1" rot="10800000">
            <a:off x="5838793" y="2878031"/>
            <a:ext cx="330900" cy="95400"/>
          </a:xfrm>
          <a:prstGeom prst="straightConnector1">
            <a:avLst/>
          </a:prstGeom>
          <a:noFill/>
          <a:ln cap="flat" cmpd="sng" w="8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13"/>
          <p:cNvCxnSpPr/>
          <p:nvPr/>
        </p:nvCxnSpPr>
        <p:spPr>
          <a:xfrm flipH="1" rot="10800000">
            <a:off x="6169790" y="2826505"/>
            <a:ext cx="356700" cy="51600"/>
          </a:xfrm>
          <a:prstGeom prst="straightConnector1">
            <a:avLst/>
          </a:prstGeom>
          <a:noFill/>
          <a:ln cap="flat" cmpd="sng" w="8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3"/>
          <p:cNvCxnSpPr/>
          <p:nvPr/>
        </p:nvCxnSpPr>
        <p:spPr>
          <a:xfrm flipH="1" rot="10800000">
            <a:off x="6507472" y="2730526"/>
            <a:ext cx="336600" cy="96000"/>
          </a:xfrm>
          <a:prstGeom prst="straightConnector1">
            <a:avLst/>
          </a:prstGeom>
          <a:noFill/>
          <a:ln cap="flat" cmpd="sng" w="8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13"/>
          <p:cNvCxnSpPr/>
          <p:nvPr/>
        </p:nvCxnSpPr>
        <p:spPr>
          <a:xfrm flipH="1" rot="10800000">
            <a:off x="6827171" y="2590857"/>
            <a:ext cx="317400" cy="136500"/>
          </a:xfrm>
          <a:prstGeom prst="straightConnector1">
            <a:avLst/>
          </a:prstGeom>
          <a:noFill/>
          <a:ln cap="flat" cmpd="sng" w="8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13"/>
          <p:cNvSpPr/>
          <p:nvPr/>
        </p:nvSpPr>
        <p:spPr>
          <a:xfrm>
            <a:off x="5484439" y="3077665"/>
            <a:ext cx="38400" cy="44400"/>
          </a:xfrm>
          <a:prstGeom prst="ellipse">
            <a:avLst/>
          </a:prstGeom>
          <a:solidFill>
            <a:srgbClr val="FFFFFF"/>
          </a:solidFill>
          <a:ln cap="flat" cmpd="sng" w="8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9"/>
          </a:p>
        </p:txBody>
      </p:sp>
      <p:sp>
        <p:nvSpPr>
          <p:cNvPr id="173" name="Google Shape;173;p13"/>
          <p:cNvSpPr/>
          <p:nvPr/>
        </p:nvSpPr>
        <p:spPr>
          <a:xfrm>
            <a:off x="5830911" y="2958694"/>
            <a:ext cx="38400" cy="44400"/>
          </a:xfrm>
          <a:prstGeom prst="ellipse">
            <a:avLst/>
          </a:prstGeom>
          <a:solidFill>
            <a:srgbClr val="FFFFFF"/>
          </a:solidFill>
          <a:ln cap="flat" cmpd="sng" w="8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"/>
          <p:cNvSpPr/>
          <p:nvPr/>
        </p:nvSpPr>
        <p:spPr>
          <a:xfrm>
            <a:off x="6158492" y="2856000"/>
            <a:ext cx="38400" cy="44400"/>
          </a:xfrm>
          <a:prstGeom prst="ellipse">
            <a:avLst/>
          </a:prstGeom>
          <a:solidFill>
            <a:srgbClr val="FFFFFF"/>
          </a:solidFill>
          <a:ln cap="flat" cmpd="sng" w="8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9"/>
          </a:p>
        </p:txBody>
      </p:sp>
      <p:sp>
        <p:nvSpPr>
          <p:cNvPr id="175" name="Google Shape;175;p13"/>
          <p:cNvSpPr/>
          <p:nvPr/>
        </p:nvSpPr>
        <p:spPr>
          <a:xfrm>
            <a:off x="6505075" y="2804420"/>
            <a:ext cx="38400" cy="44400"/>
          </a:xfrm>
          <a:prstGeom prst="ellipse">
            <a:avLst/>
          </a:prstGeom>
          <a:solidFill>
            <a:srgbClr val="FFFFFF"/>
          </a:solidFill>
          <a:ln cap="flat" cmpd="sng" w="8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9"/>
          </a:p>
        </p:txBody>
      </p:sp>
      <p:sp>
        <p:nvSpPr>
          <p:cNvPr id="176" name="Google Shape;176;p13"/>
          <p:cNvSpPr/>
          <p:nvPr/>
        </p:nvSpPr>
        <p:spPr>
          <a:xfrm>
            <a:off x="6817534" y="2708629"/>
            <a:ext cx="38400" cy="44400"/>
          </a:xfrm>
          <a:prstGeom prst="ellipse">
            <a:avLst/>
          </a:prstGeom>
          <a:solidFill>
            <a:srgbClr val="FFFFFF"/>
          </a:solidFill>
          <a:ln cap="flat" cmpd="sng" w="8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7123158" y="2567706"/>
            <a:ext cx="38400" cy="44400"/>
          </a:xfrm>
          <a:prstGeom prst="ellipse">
            <a:avLst/>
          </a:prstGeom>
          <a:solidFill>
            <a:srgbClr val="FFFFFF"/>
          </a:solidFill>
          <a:ln cap="flat" cmpd="sng" w="8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676177" y="3541274"/>
            <a:ext cx="3548700" cy="1805400"/>
          </a:xfrm>
          <a:prstGeom prst="roundRect">
            <a:avLst>
              <a:gd fmla="val 8163" name="adj"/>
            </a:avLst>
          </a:prstGeom>
          <a:solidFill>
            <a:srgbClr val="F1F4FB"/>
          </a:solidFill>
          <a:ln cap="flat" cmpd="sng" w="8875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"/>
          <p:cNvSpPr/>
          <p:nvPr/>
        </p:nvSpPr>
        <p:spPr>
          <a:xfrm>
            <a:off x="816845" y="3718119"/>
            <a:ext cx="5115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DFF"/>
              </a:buClr>
              <a:buSzPts val="769"/>
              <a:buFont typeface="Malgun Gothic"/>
              <a:buNone/>
            </a:pPr>
            <a:r>
              <a:rPr b="1" i="0" lang="en-US" sz="769" u="none" cap="none" strike="noStrike">
                <a:solidFill>
                  <a:srgbClr val="4E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1</a:t>
            </a:r>
            <a:endParaRPr b="0" i="0" sz="76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816845" y="3894964"/>
            <a:ext cx="2014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119"/>
              <a:buFont typeface="Malgun Gothic"/>
              <a:buNone/>
            </a:pPr>
            <a:r>
              <a:rPr b="1" i="0" lang="en-US" sz="1119" u="none" cap="none" strike="noStrike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구독 해지 위험도 분석</a:t>
            </a:r>
            <a:endParaRPr b="0" i="0" sz="111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816845" y="4145494"/>
            <a:ext cx="198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C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5B657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이용자 유형을 분류하고, 설문 기반 취약도 점수/위험군을 분석합니다.</a:t>
            </a:r>
            <a:endParaRPr b="0" i="0" sz="6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836027" y="4757083"/>
            <a:ext cx="639300" cy="309600"/>
          </a:xfrm>
          <a:prstGeom prst="roundRect">
            <a:avLst>
              <a:gd fmla="val 23810" name="adj"/>
            </a:avLst>
          </a:prstGeom>
          <a:solidFill>
            <a:srgbClr val="4E7DFF"/>
          </a:solidFill>
          <a:ln cap="flat" cmpd="sng" w="8875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887178" y="4843432"/>
            <a:ext cx="556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9"/>
              <a:buFont typeface="Malgun Gothic"/>
              <a:buNone/>
            </a:pPr>
            <a:r>
              <a:rPr b="0" i="0" lang="en-US" sz="62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분석하기</a:t>
            </a:r>
            <a:endParaRPr b="0" i="0" sz="62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3073911" y="3718122"/>
            <a:ext cx="1087200" cy="1529100"/>
          </a:xfrm>
          <a:prstGeom prst="roundRect">
            <a:avLst>
              <a:gd fmla="val 6780" name="adj"/>
            </a:avLst>
          </a:prstGeom>
          <a:solidFill>
            <a:srgbClr val="E8EDF8"/>
          </a:solidFill>
          <a:ln cap="flat" cmpd="sng" w="8875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9"/>
          </a:p>
        </p:txBody>
      </p:sp>
      <p:sp>
        <p:nvSpPr>
          <p:cNvPr id="185" name="Google Shape;185;p13"/>
          <p:cNvSpPr/>
          <p:nvPr/>
        </p:nvSpPr>
        <p:spPr>
          <a:xfrm>
            <a:off x="3099490" y="3858121"/>
            <a:ext cx="4155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629"/>
              <a:buFont typeface="Malgun Gothic"/>
              <a:buNone/>
            </a:pPr>
            <a:r>
              <a:rPr b="0" i="0" lang="en-US" sz="629" u="none" cap="none" strike="noStrike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위험군</a:t>
            </a:r>
            <a:endParaRPr b="0" i="0" sz="62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3189005" y="4314970"/>
            <a:ext cx="178800" cy="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59"/>
              <a:buFont typeface="Malgun Gothic"/>
              <a:buNone/>
            </a:pPr>
            <a:r>
              <a:rPr b="0" i="0" lang="en-US" sz="559" u="none" cap="none" strike="noStrike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</a:t>
            </a:r>
            <a:endParaRPr b="0" i="0" sz="55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3197531" y="4617080"/>
            <a:ext cx="178800" cy="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59"/>
              <a:buFont typeface="Malgun Gothic"/>
              <a:buNone/>
            </a:pPr>
            <a:r>
              <a:rPr b="0" i="0" lang="en-US" sz="559" u="none" cap="none" strike="noStrike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</a:t>
            </a:r>
            <a:endParaRPr b="0" i="0" sz="55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3187407" y="4958796"/>
            <a:ext cx="178800" cy="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59"/>
              <a:buFont typeface="Malgun Gothic"/>
              <a:buNone/>
            </a:pPr>
            <a:r>
              <a:rPr b="0" i="0" lang="en-US" sz="559" u="none" cap="none" strike="noStrike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</a:t>
            </a:r>
            <a:endParaRPr b="0" i="0" sz="55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9" name="Google Shape;189;p13"/>
          <p:cNvCxnSpPr/>
          <p:nvPr/>
        </p:nvCxnSpPr>
        <p:spPr>
          <a:xfrm>
            <a:off x="3412794" y="4351813"/>
            <a:ext cx="415500" cy="0"/>
          </a:xfrm>
          <a:prstGeom prst="straightConnector1">
            <a:avLst/>
          </a:prstGeom>
          <a:noFill/>
          <a:ln cap="flat" cmpd="sng" w="8875">
            <a:solidFill>
              <a:srgbClr val="4EA1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13"/>
          <p:cNvCxnSpPr/>
          <p:nvPr/>
        </p:nvCxnSpPr>
        <p:spPr>
          <a:xfrm>
            <a:off x="3425582" y="4657607"/>
            <a:ext cx="575400" cy="0"/>
          </a:xfrm>
          <a:prstGeom prst="straightConnector1">
            <a:avLst/>
          </a:prstGeom>
          <a:noFill/>
          <a:ln cap="flat" cmpd="sng" w="8875">
            <a:solidFill>
              <a:srgbClr val="F4B1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13"/>
          <p:cNvCxnSpPr/>
          <p:nvPr/>
        </p:nvCxnSpPr>
        <p:spPr>
          <a:xfrm>
            <a:off x="3412794" y="4994718"/>
            <a:ext cx="703500" cy="0"/>
          </a:xfrm>
          <a:prstGeom prst="straightConnector1">
            <a:avLst/>
          </a:prstGeom>
          <a:noFill/>
          <a:ln cap="flat" cmpd="sng" w="8875">
            <a:solidFill>
              <a:srgbClr val="FF71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3"/>
          <p:cNvSpPr/>
          <p:nvPr/>
        </p:nvSpPr>
        <p:spPr>
          <a:xfrm>
            <a:off x="4640435" y="3541274"/>
            <a:ext cx="3548700" cy="1805400"/>
          </a:xfrm>
          <a:prstGeom prst="roundRect">
            <a:avLst>
              <a:gd fmla="val 8163" name="adj"/>
            </a:avLst>
          </a:prstGeom>
          <a:solidFill>
            <a:srgbClr val="F1F4FB"/>
          </a:solidFill>
          <a:ln cap="flat" cmpd="sng" w="8875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4781102" y="3718119"/>
            <a:ext cx="5115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DFF"/>
              </a:buClr>
              <a:buSzPts val="769"/>
              <a:buFont typeface="Malgun Gothic"/>
              <a:buNone/>
            </a:pPr>
            <a:r>
              <a:rPr b="1" i="0" lang="en-US" sz="769" u="none" cap="none" strike="noStrike">
                <a:solidFill>
                  <a:srgbClr val="4E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2</a:t>
            </a:r>
            <a:endParaRPr b="0" i="0" sz="76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4781102" y="3894964"/>
            <a:ext cx="20121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119"/>
              <a:buFont typeface="Malgun Gothic"/>
              <a:buNone/>
            </a:pPr>
            <a:r>
              <a:rPr b="1" i="0" lang="en-US" sz="1119" u="none" cap="none" strike="noStrike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시뮬레이션</a:t>
            </a:r>
            <a:endParaRPr b="0" i="0" sz="111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4781102" y="4145494"/>
            <a:ext cx="2046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C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5B657C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요금제/혜택 전략을 적용했을 때의 예상 효과를 비교합니다.</a:t>
            </a:r>
            <a:endParaRPr b="0" i="0" sz="6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4800284" y="4757083"/>
            <a:ext cx="639300" cy="309600"/>
          </a:xfrm>
          <a:prstGeom prst="roundRect">
            <a:avLst>
              <a:gd fmla="val 23810" name="adj"/>
            </a:avLst>
          </a:prstGeom>
          <a:solidFill>
            <a:srgbClr val="111A2D"/>
          </a:solidFill>
          <a:ln cap="flat" cmpd="sng" w="8875">
            <a:solidFill>
              <a:srgbClr val="111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4841845" y="4819255"/>
            <a:ext cx="5370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8"/>
              <a:buFont typeface="Malgun Gothic"/>
              <a:buNone/>
            </a:pPr>
            <a:r>
              <a:rPr b="0" i="0" lang="en-US" sz="608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</a:t>
            </a:r>
            <a:endParaRPr b="0" i="0" sz="60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7161548" y="3675433"/>
            <a:ext cx="928800" cy="1529100"/>
          </a:xfrm>
          <a:prstGeom prst="roundRect">
            <a:avLst>
              <a:gd fmla="val 8696" name="adj"/>
            </a:avLst>
          </a:prstGeom>
          <a:solidFill>
            <a:srgbClr val="E8EDF8"/>
          </a:solidFill>
          <a:ln cap="flat" cmpd="sng" w="8875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7320573" y="4346287"/>
            <a:ext cx="588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399"/>
              <a:buFont typeface="Malgun Gothic"/>
              <a:buNone/>
            </a:pPr>
            <a:r>
              <a:rPr b="1" i="0" lang="en-US" sz="1399" u="none" cap="none" strike="noStrike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-14%</a:t>
            </a:r>
            <a:endParaRPr b="0" i="0" sz="139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7315510" y="4718091"/>
            <a:ext cx="5217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59"/>
              <a:buFont typeface="Malgun Gothic"/>
              <a:buNone/>
            </a:pPr>
            <a:r>
              <a:rPr b="0" i="0" lang="en-US" sz="559" u="none" cap="none" strike="noStrike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위험도 개선</a:t>
            </a:r>
            <a:endParaRPr b="0" i="0" sz="55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228600" y="6009733"/>
            <a:ext cx="8525100" cy="513900"/>
          </a:xfrm>
          <a:prstGeom prst="rect">
            <a:avLst/>
          </a:prstGeom>
          <a:solidFill>
            <a:srgbClr val="030D1C">
              <a:alpha val="92160"/>
            </a:srgbClr>
          </a:solidFill>
          <a:ln cap="flat" cmpd="sng" w="8875">
            <a:solidFill>
              <a:srgbClr val="030D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"/>
          <p:cNvSpPr/>
          <p:nvPr/>
        </p:nvSpPr>
        <p:spPr>
          <a:xfrm>
            <a:off x="484359" y="6134999"/>
            <a:ext cx="1023000" cy="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DF3"/>
              </a:buClr>
              <a:buSzPts val="559"/>
              <a:buFont typeface="Malgun Gothic"/>
              <a:buNone/>
            </a:pPr>
            <a:r>
              <a:rPr b="0" i="0" lang="en-US" sz="559" u="none" cap="none" strike="noStrike">
                <a:solidFill>
                  <a:srgbClr val="D6DDF3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Insight</a:t>
            </a:r>
            <a:endParaRPr b="0" i="0" sz="55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7827227" y="6134999"/>
            <a:ext cx="826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AE6"/>
              </a:buClr>
              <a:buSzPts val="524"/>
              <a:buFont typeface="Malgun Gothic"/>
              <a:buNone/>
            </a:pPr>
            <a:r>
              <a:rPr b="0" i="0" lang="en-US" sz="524" u="none" cap="none" strike="noStrike">
                <a:solidFill>
                  <a:srgbClr val="C0CAE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2026.03.17 최민우</a:t>
            </a:r>
            <a:endParaRPr b="0" i="0" sz="524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5112787" y="1526562"/>
            <a:ext cx="415500" cy="3903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1334750" y="3440700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5237031" y="3486106"/>
            <a:ext cx="396600" cy="3903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444201" y="1316725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527445" y="1812565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4">
              <a:solidFill>
                <a:srgbClr val="000000"/>
              </a:solidFill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1314512" y="1507827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2167168" y="1964934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4">
              <a:solidFill>
                <a:srgbClr val="000000"/>
              </a:solidFill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2954235" y="1736381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4">
              <a:solidFill>
                <a:srgbClr val="000000"/>
              </a:solidFill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3872480" y="1584011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4593958" y="1888750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5708970" y="1660196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6561626" y="1964934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7611049" y="1736381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8398116" y="1888750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855389" y="2650596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"/>
          <p:cNvSpPr/>
          <p:nvPr/>
        </p:nvSpPr>
        <p:spPr>
          <a:xfrm>
            <a:off x="1839223" y="2422042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2691879" y="2726780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3478946" y="2498227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4266013" y="2802965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5118669" y="2574411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"/>
          <p:cNvSpPr/>
          <p:nvPr/>
        </p:nvSpPr>
        <p:spPr>
          <a:xfrm>
            <a:off x="5971326" y="2879150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6889570" y="2574411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7873404" y="2726780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658622" y="4631396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1511279" y="4859949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"/>
          <p:cNvSpPr/>
          <p:nvPr/>
        </p:nvSpPr>
        <p:spPr>
          <a:xfrm>
            <a:off x="2495112" y="4555211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3347768" y="4707580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4134836" y="4936134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4921903" y="4631396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5905737" y="4783765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6823982" y="4555211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7938993" y="4859949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199500" y="898350"/>
            <a:ext cx="8745000" cy="495300"/>
          </a:xfrm>
          <a:prstGeom prst="rect">
            <a:avLst/>
          </a:prstGeom>
          <a:solidFill>
            <a:srgbClr val="031025">
              <a:alpha val="90200"/>
            </a:srgbClr>
          </a:solidFill>
          <a:ln cap="flat" cmpd="sng" w="9100">
            <a:solidFill>
              <a:srgbClr val="0310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336951" y="1012627"/>
            <a:ext cx="1167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1"/>
              <a:buFont typeface="Malgun Gothic"/>
              <a:buNone/>
            </a:pPr>
            <a:r>
              <a:rPr b="1" lang="en-US" sz="129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Insight</a:t>
            </a:r>
            <a:endParaRPr sz="129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1773634" y="1073575"/>
            <a:ext cx="1115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3"/>
              <a:buFont typeface="Malgun Gothic"/>
              <a:buNone/>
            </a:pPr>
            <a:r>
              <a:rPr lang="en-US" sz="753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위험도 분석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2954235" y="1050719"/>
            <a:ext cx="1115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53"/>
              <a:buFont typeface="Malgun Gothic"/>
              <a:buNone/>
            </a:pPr>
            <a:r>
              <a:rPr lang="en-US" sz="753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 시뮬레이션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4298808" y="1050719"/>
            <a:ext cx="1115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53"/>
              <a:buFont typeface="Malgun Gothic"/>
              <a:buNone/>
            </a:pPr>
            <a:r>
              <a:rPr lang="en-US" sz="753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회사소개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5413820" y="1050719"/>
            <a:ext cx="1115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53"/>
              <a:buFont typeface="Malgun Gothic"/>
              <a:buNone/>
            </a:pPr>
            <a:r>
              <a:rPr lang="en-US" sz="753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문의사항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6922365" y="1005008"/>
            <a:ext cx="524700" cy="251700"/>
          </a:xfrm>
          <a:prstGeom prst="roundRect">
            <a:avLst>
              <a:gd fmla="val 24242" name="adj"/>
            </a:avLst>
          </a:prstGeom>
          <a:solidFill>
            <a:srgbClr val="0F1E3F"/>
          </a:solidFill>
          <a:ln cap="flat" cmpd="sng" w="9100">
            <a:solidFill>
              <a:srgbClr val="D9E2F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6983581" y="1044646"/>
            <a:ext cx="3870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6"/>
              <a:buFont typeface="Malgun Gothic"/>
              <a:buNone/>
            </a:pPr>
            <a:r>
              <a:rPr lang="en-US" sz="646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 sz="64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7532342" y="1005008"/>
            <a:ext cx="577200" cy="251700"/>
          </a:xfrm>
          <a:prstGeom prst="roundRect">
            <a:avLst>
              <a:gd fmla="val 24242" name="adj"/>
            </a:avLst>
          </a:prstGeom>
          <a:solidFill>
            <a:srgbClr val="4E7DFF"/>
          </a:solidFill>
          <a:ln cap="flat" cmpd="sng" w="910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7578254" y="1005008"/>
            <a:ext cx="5313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6"/>
              <a:buFont typeface="Malgun Gothic"/>
              <a:buNone/>
            </a:pPr>
            <a:r>
              <a:rPr lang="en-US" sz="646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</a:t>
            </a:r>
            <a:endParaRPr sz="64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574814" y="1810872"/>
            <a:ext cx="2951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8"/>
              <a:buFont typeface="Malgun Gothic"/>
              <a:buNone/>
            </a:pPr>
            <a:r>
              <a:rPr b="1" lang="en-US" sz="1578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구독 해지 위험도 분석</a:t>
            </a:r>
            <a:endParaRPr sz="157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606151" y="2155396"/>
            <a:ext cx="36600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3FF"/>
              </a:buClr>
              <a:buSzPts val="681"/>
              <a:buFont typeface="Malgun Gothic"/>
              <a:buNone/>
            </a:pPr>
            <a:r>
              <a:rPr lang="en-US" sz="6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입력값 3개를 기반으로 사전 학습된 결과를 불러와 유형·위험도·핵심 특징을 보여줍니다.</a:t>
            </a:r>
            <a:endParaRPr sz="6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560243" y="2536311"/>
            <a:ext cx="2098800" cy="3353100"/>
          </a:xfrm>
          <a:prstGeom prst="roundRect">
            <a:avLst>
              <a:gd fmla="val 6250" name="adj"/>
            </a:avLst>
          </a:prstGeom>
          <a:solidFill>
            <a:srgbClr val="F1F4FB"/>
          </a:solidFill>
          <a:ln cap="flat" cmpd="sng" w="910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4"/>
          </a:p>
        </p:txBody>
      </p:sp>
      <p:sp>
        <p:nvSpPr>
          <p:cNvPr id="253" name="Google Shape;253;p14"/>
          <p:cNvSpPr/>
          <p:nvPr/>
        </p:nvSpPr>
        <p:spPr>
          <a:xfrm>
            <a:off x="757006" y="2764873"/>
            <a:ext cx="9183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04"/>
              <a:buFont typeface="Malgun Gothic"/>
              <a:buNone/>
            </a:pPr>
            <a:r>
              <a:rPr b="1" lang="en-US" sz="1004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정보</a:t>
            </a:r>
            <a:endParaRPr sz="100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757006" y="3183888"/>
            <a:ext cx="9183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646"/>
              <a:buFont typeface="Malgun Gothic"/>
              <a:buNone/>
            </a:pPr>
            <a:r>
              <a:rPr b="1" lang="en-US" sz="646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결제액</a:t>
            </a:r>
            <a:endParaRPr sz="64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757006" y="3389587"/>
            <a:ext cx="1607100" cy="320100"/>
          </a:xfrm>
          <a:prstGeom prst="roundRect">
            <a:avLst>
              <a:gd fmla="val 19048" name="adj"/>
            </a:avLst>
          </a:prstGeom>
          <a:solidFill>
            <a:srgbClr val="DDE3F2"/>
          </a:solidFill>
          <a:ln cap="flat" cmpd="sng" w="9100">
            <a:solidFill>
              <a:srgbClr val="DD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855389" y="3488626"/>
            <a:ext cx="11151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A3BD"/>
              </a:buClr>
              <a:buSzPts val="588"/>
              <a:buFont typeface="Malgun Gothic"/>
              <a:buNone/>
            </a:pPr>
            <a:r>
              <a:rPr lang="en-US" sz="588">
                <a:solidFill>
                  <a:srgbClr val="98A3B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예: 13,500원</a:t>
            </a:r>
            <a:endParaRPr sz="58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757006" y="4021919"/>
            <a:ext cx="9183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646"/>
              <a:buFont typeface="Malgun Gothic"/>
              <a:buNone/>
            </a:pPr>
            <a:r>
              <a:rPr b="1" lang="en-US" sz="646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 빈도</a:t>
            </a:r>
            <a:endParaRPr sz="64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757006" y="4227617"/>
            <a:ext cx="1607100" cy="320100"/>
          </a:xfrm>
          <a:prstGeom prst="roundRect">
            <a:avLst>
              <a:gd fmla="val 19048" name="adj"/>
            </a:avLst>
          </a:prstGeom>
          <a:solidFill>
            <a:srgbClr val="DDE3F2"/>
          </a:solidFill>
          <a:ln cap="flat" cmpd="sng" w="9100">
            <a:solidFill>
              <a:srgbClr val="DD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855389" y="4326657"/>
            <a:ext cx="11151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A3BD"/>
              </a:buClr>
              <a:buSzPts val="588"/>
              <a:buFont typeface="Malgun Gothic"/>
              <a:buNone/>
            </a:pPr>
            <a:r>
              <a:rPr lang="en-US" sz="588">
                <a:solidFill>
                  <a:srgbClr val="98A3B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예: 주 5회</a:t>
            </a:r>
            <a:endParaRPr sz="58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757006" y="4859949"/>
            <a:ext cx="9183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646"/>
              <a:buFont typeface="Malgun Gothic"/>
              <a:buNone/>
            </a:pPr>
            <a:r>
              <a:rPr b="1" lang="en-US" sz="646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의향</a:t>
            </a:r>
            <a:endParaRPr sz="64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757006" y="5065648"/>
            <a:ext cx="1607100" cy="320100"/>
          </a:xfrm>
          <a:prstGeom prst="roundRect">
            <a:avLst>
              <a:gd fmla="val 19048" name="adj"/>
            </a:avLst>
          </a:prstGeom>
          <a:solidFill>
            <a:srgbClr val="DDE3F2"/>
          </a:solidFill>
          <a:ln cap="flat" cmpd="sng" w="9100">
            <a:solidFill>
              <a:srgbClr val="DD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855389" y="5164688"/>
            <a:ext cx="11151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A3BD"/>
              </a:buClr>
              <a:buSzPts val="588"/>
              <a:buFont typeface="Malgun Gothic"/>
              <a:buNone/>
            </a:pPr>
            <a:r>
              <a:rPr lang="en-US" sz="588">
                <a:solidFill>
                  <a:srgbClr val="98A3BD"/>
                </a:solidFill>
                <a:latin typeface="Malgun Gothic"/>
                <a:ea typeface="Malgun Gothic"/>
                <a:cs typeface="Malgun Gothic"/>
                <a:sym typeface="Malgun Gothic"/>
              </a:rPr>
              <a:t>높음 / 보통 / 낮음</a:t>
            </a:r>
            <a:endParaRPr sz="58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1216134" y="5465611"/>
            <a:ext cx="688500" cy="342900"/>
          </a:xfrm>
          <a:prstGeom prst="roundRect">
            <a:avLst>
              <a:gd fmla="val 24444" name="adj"/>
            </a:avLst>
          </a:prstGeom>
          <a:solidFill>
            <a:srgbClr val="4E7DFF"/>
          </a:solidFill>
          <a:ln cap="flat" cmpd="sng" w="910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1268705" y="5549413"/>
            <a:ext cx="5835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6"/>
              <a:buFont typeface="Malgun Gothic"/>
              <a:buNone/>
            </a:pPr>
            <a:r>
              <a:rPr lang="en-US" sz="646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실행</a:t>
            </a:r>
            <a:endParaRPr sz="64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2888646" y="2536319"/>
            <a:ext cx="4951800" cy="1104600"/>
          </a:xfrm>
          <a:prstGeom prst="roundRect">
            <a:avLst>
              <a:gd fmla="val 12414" name="adj"/>
            </a:avLst>
          </a:prstGeom>
          <a:solidFill>
            <a:srgbClr val="F1F4FB"/>
          </a:solidFill>
          <a:ln cap="flat" cmpd="sng" w="910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3118207" y="2764873"/>
            <a:ext cx="1049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04"/>
              <a:buFont typeface="Malgun Gothic"/>
              <a:buNone/>
            </a:pPr>
            <a:r>
              <a:rPr b="1" lang="en-US" sz="1004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결과 요약</a:t>
            </a:r>
            <a:endParaRPr sz="100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3118207" y="3031519"/>
            <a:ext cx="885600" cy="419100"/>
          </a:xfrm>
          <a:prstGeom prst="roundRect">
            <a:avLst>
              <a:gd fmla="val 14545" name="adj"/>
            </a:avLst>
          </a:prstGeom>
          <a:solidFill>
            <a:srgbClr val="E8EDF8"/>
          </a:solidFill>
          <a:ln cap="flat" cmpd="sng" w="91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3196914" y="3031519"/>
            <a:ext cx="5772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16"/>
              <a:buFont typeface="Malgun Gothic"/>
              <a:buNone/>
            </a:pPr>
            <a:r>
              <a:rPr lang="en-US" sz="516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이용자 유형</a:t>
            </a:r>
            <a:endParaRPr sz="51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3196914" y="3243143"/>
            <a:ext cx="787200" cy="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53"/>
              <a:buFont typeface="Malgun Gothic"/>
              <a:buNone/>
            </a:pPr>
            <a:r>
              <a:rPr b="1" lang="en-US" sz="753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가벼운 탐색형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4233219" y="3031519"/>
            <a:ext cx="885600" cy="419100"/>
          </a:xfrm>
          <a:prstGeom prst="roundRect">
            <a:avLst>
              <a:gd fmla="val 14545" name="adj"/>
            </a:avLst>
          </a:prstGeom>
          <a:solidFill>
            <a:srgbClr val="E8EDF8"/>
          </a:solidFill>
          <a:ln cap="flat" cmpd="sng" w="91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4311925" y="3054374"/>
            <a:ext cx="4857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16"/>
              <a:buFont typeface="Malgun Gothic"/>
              <a:buNone/>
            </a:pPr>
            <a:r>
              <a:rPr lang="en-US" sz="516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점수</a:t>
            </a:r>
            <a:endParaRPr sz="51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4311926" y="3244836"/>
            <a:ext cx="590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53"/>
              <a:buFont typeface="Malgun Gothic"/>
              <a:buNone/>
            </a:pPr>
            <a:r>
              <a:rPr b="1" lang="en-US" sz="753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67점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5348231" y="3031519"/>
            <a:ext cx="885600" cy="419100"/>
          </a:xfrm>
          <a:prstGeom prst="roundRect">
            <a:avLst>
              <a:gd fmla="val 14545" name="adj"/>
            </a:avLst>
          </a:prstGeom>
          <a:solidFill>
            <a:srgbClr val="E8EDF8"/>
          </a:solidFill>
          <a:ln cap="flat" cmpd="sng" w="91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5426937" y="3115322"/>
            <a:ext cx="5445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16"/>
              <a:buFont typeface="Malgun Gothic"/>
              <a:buNone/>
            </a:pPr>
            <a:r>
              <a:rPr lang="en-US" sz="516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위험군</a:t>
            </a:r>
            <a:endParaRPr sz="51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5426937" y="3244836"/>
            <a:ext cx="590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53"/>
              <a:buFont typeface="Malgun Gothic"/>
              <a:buNone/>
            </a:pPr>
            <a:r>
              <a:rPr b="1" lang="en-US" sz="753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주의형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6627215" y="2970571"/>
            <a:ext cx="885600" cy="502800"/>
          </a:xfrm>
          <a:prstGeom prst="roundRect">
            <a:avLst>
              <a:gd fmla="val 15152" name="adj"/>
            </a:avLst>
          </a:prstGeom>
          <a:solidFill>
            <a:srgbClr val="111A2D"/>
          </a:solidFill>
          <a:ln cap="flat" cmpd="sng" w="9100">
            <a:solidFill>
              <a:srgbClr val="111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6692804" y="3088657"/>
            <a:ext cx="7215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"/>
              <a:buFont typeface="Malgun Gothic"/>
              <a:buNone/>
            </a:pPr>
            <a:r>
              <a:rPr lang="en-US" sz="58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사용량</a:t>
            </a:r>
            <a:endParaRPr sz="5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"/>
              <a:buFont typeface="Malgun Gothic"/>
              <a:buNone/>
            </a:pPr>
            <a:r>
              <a:rPr lang="en-US" sz="58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1주 + 5회</a:t>
            </a:r>
            <a:endParaRPr sz="5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2888646" y="3778128"/>
            <a:ext cx="2525100" cy="1676100"/>
          </a:xfrm>
          <a:prstGeom prst="roundRect">
            <a:avLst>
              <a:gd fmla="val 8182" name="adj"/>
            </a:avLst>
          </a:prstGeom>
          <a:solidFill>
            <a:srgbClr val="F1F4FB"/>
          </a:solidFill>
          <a:ln cap="flat" cmpd="sng" w="910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3118207" y="3968589"/>
            <a:ext cx="1323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04"/>
              <a:buFont typeface="Malgun Gothic"/>
              <a:buNone/>
            </a:pPr>
            <a:r>
              <a:rPr b="1" lang="en-US" sz="1004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요인 분포</a:t>
            </a:r>
            <a:endParaRPr sz="100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3118207" y="4364749"/>
            <a:ext cx="655800" cy="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59"/>
              <a:buFont typeface="Malgun Gothic"/>
              <a:buNone/>
            </a:pPr>
            <a:r>
              <a:rPr lang="en-US" sz="559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 강도</a:t>
            </a:r>
            <a:endParaRPr sz="559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1" name="Google Shape;281;p14"/>
          <p:cNvCxnSpPr/>
          <p:nvPr/>
        </p:nvCxnSpPr>
        <p:spPr>
          <a:xfrm>
            <a:off x="4082364" y="4433316"/>
            <a:ext cx="787200" cy="0"/>
          </a:xfrm>
          <a:prstGeom prst="straightConnector1">
            <a:avLst/>
          </a:prstGeom>
          <a:noFill/>
          <a:ln cap="flat" cmpd="sng" w="9100">
            <a:solidFill>
              <a:srgbClr val="D5D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14"/>
          <p:cNvCxnSpPr/>
          <p:nvPr/>
        </p:nvCxnSpPr>
        <p:spPr>
          <a:xfrm>
            <a:off x="4082364" y="4433316"/>
            <a:ext cx="645300" cy="0"/>
          </a:xfrm>
          <a:prstGeom prst="straightConnector1">
            <a:avLst/>
          </a:prstGeom>
          <a:noFill/>
          <a:ln cap="flat" cmpd="sng" w="9100">
            <a:solidFill>
              <a:srgbClr val="FF6D8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4"/>
          <p:cNvSpPr/>
          <p:nvPr/>
        </p:nvSpPr>
        <p:spPr>
          <a:xfrm>
            <a:off x="4908785" y="4296183"/>
            <a:ext cx="3330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38"/>
              <a:buFont typeface="Malgun Gothic"/>
              <a:buNone/>
            </a:pPr>
            <a:r>
              <a:rPr lang="en-US" sz="538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82%</a:t>
            </a:r>
            <a:endParaRPr sz="53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3118207" y="4623777"/>
            <a:ext cx="655800" cy="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59"/>
              <a:buFont typeface="Malgun Gothic"/>
              <a:buNone/>
            </a:pPr>
            <a:r>
              <a:rPr lang="en-US" sz="559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수용성</a:t>
            </a:r>
            <a:endParaRPr sz="559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5" name="Google Shape;285;p14"/>
          <p:cNvCxnSpPr/>
          <p:nvPr/>
        </p:nvCxnSpPr>
        <p:spPr>
          <a:xfrm>
            <a:off x="4082364" y="4692343"/>
            <a:ext cx="787200" cy="0"/>
          </a:xfrm>
          <a:prstGeom prst="straightConnector1">
            <a:avLst/>
          </a:prstGeom>
          <a:noFill/>
          <a:ln cap="flat" cmpd="sng" w="9100">
            <a:solidFill>
              <a:srgbClr val="D5D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14"/>
          <p:cNvCxnSpPr/>
          <p:nvPr/>
        </p:nvCxnSpPr>
        <p:spPr>
          <a:xfrm>
            <a:off x="4082364" y="4692343"/>
            <a:ext cx="495900" cy="0"/>
          </a:xfrm>
          <a:prstGeom prst="straightConnector1">
            <a:avLst/>
          </a:prstGeom>
          <a:noFill/>
          <a:ln cap="flat" cmpd="sng" w="910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4"/>
          <p:cNvSpPr/>
          <p:nvPr/>
        </p:nvSpPr>
        <p:spPr>
          <a:xfrm>
            <a:off x="4908784" y="4547592"/>
            <a:ext cx="3330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38"/>
              <a:buFont typeface="Malgun Gothic"/>
              <a:buNone/>
            </a:pPr>
            <a:r>
              <a:rPr lang="en-US" sz="538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63%</a:t>
            </a:r>
            <a:endParaRPr sz="53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3118207" y="4882805"/>
            <a:ext cx="655800" cy="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59"/>
              <a:buFont typeface="Malgun Gothic"/>
              <a:buNone/>
            </a:pPr>
            <a:r>
              <a:rPr lang="en-US" sz="559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 부담</a:t>
            </a:r>
            <a:endParaRPr sz="559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9" name="Google Shape;289;p14"/>
          <p:cNvCxnSpPr/>
          <p:nvPr/>
        </p:nvCxnSpPr>
        <p:spPr>
          <a:xfrm>
            <a:off x="4082364" y="4951371"/>
            <a:ext cx="787200" cy="0"/>
          </a:xfrm>
          <a:prstGeom prst="straightConnector1">
            <a:avLst/>
          </a:prstGeom>
          <a:noFill/>
          <a:ln cap="flat" cmpd="sng" w="9100">
            <a:solidFill>
              <a:srgbClr val="D5D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14"/>
          <p:cNvCxnSpPr/>
          <p:nvPr/>
        </p:nvCxnSpPr>
        <p:spPr>
          <a:xfrm>
            <a:off x="4082364" y="4951371"/>
            <a:ext cx="440700" cy="0"/>
          </a:xfrm>
          <a:prstGeom prst="straightConnector1">
            <a:avLst/>
          </a:prstGeom>
          <a:noFill/>
          <a:ln cap="flat" cmpd="sng" w="9100">
            <a:solidFill>
              <a:srgbClr val="F5B4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4"/>
          <p:cNvSpPr/>
          <p:nvPr/>
        </p:nvSpPr>
        <p:spPr>
          <a:xfrm>
            <a:off x="4908785" y="4837094"/>
            <a:ext cx="3330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38"/>
              <a:buFont typeface="Malgun Gothic"/>
              <a:buNone/>
            </a:pPr>
            <a:r>
              <a:rPr lang="en-US" sz="538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56%</a:t>
            </a:r>
            <a:endParaRPr sz="53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3118207" y="5141832"/>
            <a:ext cx="655800" cy="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59"/>
              <a:buFont typeface="Malgun Gothic"/>
              <a:buNone/>
            </a:pPr>
            <a:r>
              <a:rPr lang="en-US" sz="559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몰입도</a:t>
            </a:r>
            <a:endParaRPr sz="559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3" name="Google Shape;293;p14"/>
          <p:cNvCxnSpPr/>
          <p:nvPr/>
        </p:nvCxnSpPr>
        <p:spPr>
          <a:xfrm>
            <a:off x="4082364" y="5210399"/>
            <a:ext cx="787200" cy="0"/>
          </a:xfrm>
          <a:prstGeom prst="straightConnector1">
            <a:avLst/>
          </a:prstGeom>
          <a:noFill/>
          <a:ln cap="flat" cmpd="sng" w="9100">
            <a:solidFill>
              <a:srgbClr val="D5D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4"/>
          <p:cNvCxnSpPr/>
          <p:nvPr/>
        </p:nvCxnSpPr>
        <p:spPr>
          <a:xfrm>
            <a:off x="4082364" y="5210399"/>
            <a:ext cx="346200" cy="0"/>
          </a:xfrm>
          <a:prstGeom prst="straightConnector1">
            <a:avLst/>
          </a:prstGeom>
          <a:noFill/>
          <a:ln cap="flat" cmpd="sng" w="9100">
            <a:solidFill>
              <a:srgbClr val="69B88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4"/>
          <p:cNvSpPr/>
          <p:nvPr/>
        </p:nvSpPr>
        <p:spPr>
          <a:xfrm>
            <a:off x="4908785" y="5088503"/>
            <a:ext cx="333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38"/>
              <a:buFont typeface="Malgun Gothic"/>
              <a:buNone/>
            </a:pPr>
            <a:r>
              <a:rPr lang="en-US" sz="538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44%</a:t>
            </a:r>
            <a:endParaRPr sz="53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544998" y="3778128"/>
            <a:ext cx="2295600" cy="1676100"/>
          </a:xfrm>
          <a:prstGeom prst="roundRect">
            <a:avLst>
              <a:gd fmla="val 8182" name="adj"/>
            </a:avLst>
          </a:prstGeom>
          <a:solidFill>
            <a:srgbClr val="F1F4FB"/>
          </a:solidFill>
          <a:ln cap="flat" cmpd="sng" w="910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5741764" y="3983826"/>
            <a:ext cx="975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04"/>
              <a:buFont typeface="Malgun Gothic"/>
              <a:buNone/>
            </a:pPr>
            <a:r>
              <a:rPr b="1" lang="en-US" sz="1004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해석</a:t>
            </a:r>
            <a:endParaRPr sz="100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5761441" y="4326657"/>
            <a:ext cx="52500" cy="61200"/>
          </a:xfrm>
          <a:prstGeom prst="ellipse">
            <a:avLst/>
          </a:prstGeom>
          <a:solidFill>
            <a:srgbClr val="4E7DFF"/>
          </a:solidFill>
          <a:ln cap="flat" cmpd="sng" w="910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5853265" y="4311420"/>
            <a:ext cx="1574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67"/>
              <a:buFont typeface="Malgun Gothic"/>
              <a:buNone/>
            </a:pPr>
            <a:r>
              <a:rPr lang="en-US" sz="567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이용빈도 대비 결제 부담이</a:t>
            </a:r>
            <a:endParaRPr sz="5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67"/>
              <a:buFont typeface="Malgun Gothic"/>
              <a:buNone/>
            </a:pPr>
            <a:r>
              <a:rPr lang="en-US" sz="567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상대적으로 높게 나타납니다.</a:t>
            </a:r>
            <a:endParaRPr sz="5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5761441" y="4707580"/>
            <a:ext cx="52500" cy="61200"/>
          </a:xfrm>
          <a:prstGeom prst="ellipse">
            <a:avLst/>
          </a:prstGeom>
          <a:solidFill>
            <a:srgbClr val="4E7DFF"/>
          </a:solidFill>
          <a:ln cap="flat" cmpd="sng" w="910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5853265" y="4692343"/>
            <a:ext cx="1574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67"/>
              <a:buFont typeface="Malgun Gothic"/>
              <a:buNone/>
            </a:pPr>
            <a:r>
              <a:rPr lang="en-US" sz="567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수용 의향은 보통 수준으로</a:t>
            </a:r>
            <a:endParaRPr sz="5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67"/>
              <a:buFont typeface="Malgun Gothic"/>
              <a:buNone/>
            </a:pPr>
            <a:r>
              <a:rPr lang="en-US" sz="567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전환 가능성이 있습니다.</a:t>
            </a:r>
            <a:endParaRPr sz="5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5761441" y="5088503"/>
            <a:ext cx="52500" cy="61200"/>
          </a:xfrm>
          <a:prstGeom prst="ellipse">
            <a:avLst/>
          </a:prstGeom>
          <a:solidFill>
            <a:srgbClr val="4E7DFF"/>
          </a:solidFill>
          <a:ln cap="flat" cmpd="sng" w="910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5853265" y="5073266"/>
            <a:ext cx="1574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67"/>
              <a:buFont typeface="Malgun Gothic"/>
              <a:buNone/>
            </a:pPr>
            <a:r>
              <a:rPr lang="en-US" sz="567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추천보다 검색 의존도가 높아 콘텐츠 탐색</a:t>
            </a:r>
            <a:endParaRPr sz="5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67"/>
              <a:buFont typeface="Malgun Gothic"/>
              <a:buNone/>
            </a:pPr>
            <a:r>
              <a:rPr lang="en-US" sz="567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피로가 커질 수 있습니다.</a:t>
            </a:r>
            <a:endParaRPr sz="56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199500" y="6193180"/>
            <a:ext cx="8745000" cy="419100"/>
          </a:xfrm>
          <a:prstGeom prst="rect">
            <a:avLst/>
          </a:prstGeom>
          <a:solidFill>
            <a:srgbClr val="030D1C">
              <a:alpha val="92160"/>
            </a:srgbClr>
          </a:solidFill>
          <a:ln cap="flat" cmpd="sng" w="9100">
            <a:solidFill>
              <a:srgbClr val="030D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461856" y="6322694"/>
            <a:ext cx="1049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DF3"/>
              </a:buClr>
              <a:buSzPts val="574"/>
              <a:buFont typeface="Malgun Gothic"/>
              <a:buNone/>
            </a:pPr>
            <a:r>
              <a:rPr lang="en-US" sz="574">
                <a:solidFill>
                  <a:srgbClr val="D6DDF3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Insight Project</a:t>
            </a:r>
            <a:endParaRPr sz="5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7893081" y="6299838"/>
            <a:ext cx="893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AE6"/>
              </a:buClr>
              <a:buSzPts val="538"/>
              <a:buFont typeface="Malgun Gothic"/>
              <a:buNone/>
            </a:pPr>
            <a:r>
              <a:rPr lang="en-US" sz="538">
                <a:solidFill>
                  <a:srgbClr val="C0CAE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2026.03.17 최민우</a:t>
            </a:r>
            <a:endParaRPr sz="53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22860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24688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 Title</a:t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1051560" y="109728"/>
            <a:ext cx="155448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1097280" y="109728"/>
            <a:ext cx="1463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1 화면</a:t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260604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 txBox="1"/>
          <p:nvPr/>
        </p:nvSpPr>
        <p:spPr>
          <a:xfrm>
            <a:off x="262432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ID</a:t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3429000" y="109728"/>
            <a:ext cx="146304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3474720" y="10972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FUNC1-01</a:t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489204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491032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Author</a:t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5715000" y="109728"/>
            <a:ext cx="128016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5760720" y="109728"/>
            <a:ext cx="11887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최민우</a:t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699516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701344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Date</a:t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7818120" y="109728"/>
            <a:ext cx="137160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7863840" y="10972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2026.03.17</a:t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228600" y="365760"/>
            <a:ext cx="91440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246888" y="365760"/>
            <a:ext cx="9235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Path</a:t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1143000" y="365760"/>
            <a:ext cx="521208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1188720" y="36576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&gt; 구독 위험도 분석</a:t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9171432" y="749808"/>
            <a:ext cx="2724912" cy="34747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9217152" y="749808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9164025" y="1147829"/>
            <a:ext cx="2724912" cy="533043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9265834" y="1347591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331" name="Google Shape;331;p14"/>
          <p:cNvSpPr txBox="1"/>
          <p:nvPr/>
        </p:nvSpPr>
        <p:spPr>
          <a:xfrm>
            <a:off x="9427464" y="1362947"/>
            <a:ext cx="2423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기능1의 제목 및 상세 내용</a:t>
            </a: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/>
          </a:p>
        </p:txBody>
      </p:sp>
      <p:sp>
        <p:nvSpPr>
          <p:cNvPr id="332" name="Google Shape;332;p14"/>
          <p:cNvSpPr txBox="1"/>
          <p:nvPr/>
        </p:nvSpPr>
        <p:spPr>
          <a:xfrm>
            <a:off x="9262872" y="2282235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9408639" y="2095767"/>
            <a:ext cx="24231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사용자의 OTT 이용 관련 핵심 정보를 입력하는 영역, 입력된 값을 바탕으로 이용자 유형 및 이탈 취약도 분석을 수행합니다.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9265834" y="3258950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335" name="Google Shape;335;p14"/>
          <p:cNvSpPr txBox="1"/>
          <p:nvPr/>
        </p:nvSpPr>
        <p:spPr>
          <a:xfrm>
            <a:off x="9265834" y="4216367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336" name="Google Shape;336;p14"/>
          <p:cNvSpPr txBox="1"/>
          <p:nvPr/>
        </p:nvSpPr>
        <p:spPr>
          <a:xfrm>
            <a:off x="9465777" y="2948267"/>
            <a:ext cx="24231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결과의 핵심 요약 정보를 보여주는 영역, 이용자 유형/위험 점수/위험군 분류/최근 사용 상태를 한눈에 확인할 수 있습니다.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9257978" y="5262628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338" name="Google Shape;338;p14"/>
          <p:cNvSpPr txBox="1"/>
          <p:nvPr/>
        </p:nvSpPr>
        <p:spPr>
          <a:xfrm>
            <a:off x="9430426" y="3946754"/>
            <a:ext cx="24231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 취약도에 영향을 주는 주요 요인을 시각적으로 보여주는 영역, 각 요인별 반영 비율을 통해 어떤 항목이 위험도에 더 크게 적용되는지 확인할 수 있습니다.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9421411" y="5111619"/>
            <a:ext cx="24231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결과를 문장 형태로 해석하여 제공하는 영역, 사용자 이용 패턴과 위험 요인을 바탕으로 결과의 의미를 쉽게 이해할 수 있도록 구성합니다.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246901" y="1791275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/>
          </a:p>
        </p:txBody>
      </p:sp>
      <p:sp>
        <p:nvSpPr>
          <p:cNvPr id="341" name="Google Shape;341;p14"/>
          <p:cNvSpPr/>
          <p:nvPr/>
        </p:nvSpPr>
        <p:spPr>
          <a:xfrm>
            <a:off x="1773626" y="2571425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/>
          </a:p>
        </p:txBody>
      </p:sp>
      <p:sp>
        <p:nvSpPr>
          <p:cNvPr id="342" name="Google Shape;342;p14"/>
          <p:cNvSpPr/>
          <p:nvPr/>
        </p:nvSpPr>
        <p:spPr>
          <a:xfrm>
            <a:off x="6887776" y="3802475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/>
          </a:p>
        </p:txBody>
      </p:sp>
      <p:sp>
        <p:nvSpPr>
          <p:cNvPr id="343" name="Google Shape;343;p14"/>
          <p:cNvSpPr/>
          <p:nvPr/>
        </p:nvSpPr>
        <p:spPr>
          <a:xfrm>
            <a:off x="4578276" y="3794850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/>
          </a:p>
        </p:txBody>
      </p:sp>
      <p:sp>
        <p:nvSpPr>
          <p:cNvPr id="344" name="Google Shape;344;p14"/>
          <p:cNvSpPr/>
          <p:nvPr/>
        </p:nvSpPr>
        <p:spPr>
          <a:xfrm>
            <a:off x="4618226" y="2576100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"/>
          <p:cNvSpPr/>
          <p:nvPr/>
        </p:nvSpPr>
        <p:spPr>
          <a:xfrm>
            <a:off x="642780" y="1730411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6">
              <a:solidFill>
                <a:srgbClr val="000000"/>
              </a:solidFill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1407372" y="1422991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2235679" y="1884120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6">
              <a:solidFill>
                <a:srgbClr val="000000"/>
              </a:solidFill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3000271" y="1653556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6">
              <a:solidFill>
                <a:srgbClr val="000000"/>
              </a:solidFill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3892295" y="1499846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6">
              <a:solidFill>
                <a:srgbClr val="000000"/>
              </a:solidFill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593171" y="1807266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5676342" y="1576701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6504650" y="1884120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7524106" y="1653556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8288697" y="1807266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961360" y="2575814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1917099" y="2345249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2745407" y="2652669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3509999" y="2422104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4274591" y="2729524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5102898" y="2498959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5931206" y="2806379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6823230" y="2498959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7778970" y="2652669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770212" y="4574040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1598520" y="4804605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2554259" y="4497185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3382567" y="4650895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4147159" y="4881459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4911751" y="4574040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5867490" y="4727750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6759514" y="4497185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7842686" y="4804605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324200" y="808152"/>
            <a:ext cx="8495400" cy="499500"/>
          </a:xfrm>
          <a:prstGeom prst="rect">
            <a:avLst/>
          </a:prstGeom>
          <a:solidFill>
            <a:srgbClr val="031025">
              <a:alpha val="90200"/>
            </a:srgbClr>
          </a:solidFill>
          <a:ln cap="flat" cmpd="sng" w="8850">
            <a:solidFill>
              <a:srgbClr val="0310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483490" y="931120"/>
            <a:ext cx="11148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4"/>
              <a:buFont typeface="Malgun Gothic"/>
              <a:buNone/>
            </a:pPr>
            <a:r>
              <a:rPr b="1" lang="en-US" sz="125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Insight</a:t>
            </a:r>
            <a:endParaRPr sz="125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1802411" y="961862"/>
            <a:ext cx="1083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32"/>
              <a:buFont typeface="Malgun Gothic"/>
              <a:buNone/>
            </a:pPr>
            <a:r>
              <a:rPr lang="en-US" sz="732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위험도 분석</a:t>
            </a:r>
            <a:endParaRPr sz="73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3000271" y="961862"/>
            <a:ext cx="1083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2"/>
              <a:buFont typeface="Malgun Gothic"/>
              <a:buNone/>
            </a:pPr>
            <a:r>
              <a:rPr b="1" lang="en-US" sz="732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 </a:t>
            </a:r>
            <a:r>
              <a:rPr lang="en-US" sz="732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</a:t>
            </a:r>
            <a:endParaRPr sz="73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4306449" y="961862"/>
            <a:ext cx="1083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32"/>
              <a:buFont typeface="Malgun Gothic"/>
              <a:buNone/>
            </a:pPr>
            <a:r>
              <a:rPr lang="en-US" sz="732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회사소개</a:t>
            </a:r>
            <a:endParaRPr sz="73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5389620" y="961862"/>
            <a:ext cx="1083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32"/>
              <a:buFont typeface="Malgun Gothic"/>
              <a:buNone/>
            </a:pPr>
            <a:r>
              <a:rPr lang="en-US" sz="732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문의사항</a:t>
            </a:r>
            <a:endParaRPr sz="73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6855088" y="915749"/>
            <a:ext cx="509700" cy="253800"/>
          </a:xfrm>
          <a:prstGeom prst="roundRect">
            <a:avLst>
              <a:gd fmla="val 24242" name="adj"/>
            </a:avLst>
          </a:prstGeom>
          <a:solidFill>
            <a:srgbClr val="0F1E3F"/>
          </a:solidFill>
          <a:ln cap="flat" cmpd="sng" w="8850">
            <a:solidFill>
              <a:srgbClr val="D9E2F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6912432" y="948050"/>
            <a:ext cx="395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7"/>
              <a:buFont typeface="Malgun Gothic"/>
              <a:buNone/>
            </a:pPr>
            <a:r>
              <a:rPr lang="en-US" sz="627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 sz="62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7447646" y="915749"/>
            <a:ext cx="560700" cy="253800"/>
          </a:xfrm>
          <a:prstGeom prst="roundRect">
            <a:avLst>
              <a:gd fmla="val 24242" name="adj"/>
            </a:avLst>
          </a:prstGeom>
          <a:solidFill>
            <a:srgbClr val="4E7DFF"/>
          </a:solidFill>
          <a:ln cap="flat" cmpd="sng" w="885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7508177" y="959579"/>
            <a:ext cx="4776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7"/>
              <a:buFont typeface="Malgun Gothic"/>
              <a:buNone/>
            </a:pPr>
            <a:r>
              <a:rPr lang="en-US" sz="627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</a:t>
            </a:r>
            <a:endParaRPr sz="62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706496" y="1757031"/>
            <a:ext cx="31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3"/>
              <a:buFont typeface="Malgun Gothic"/>
              <a:buNone/>
            </a:pPr>
            <a:r>
              <a:rPr b="1" lang="en-US" sz="1533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 방지 마케팅 시뮬레이션</a:t>
            </a:r>
            <a:endParaRPr sz="153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709728" y="2054258"/>
            <a:ext cx="3555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3FF"/>
              </a:buClr>
              <a:buSzPts val="662"/>
              <a:buFont typeface="Malgun Gothic"/>
              <a:buNone/>
            </a:pPr>
            <a:r>
              <a:rPr lang="en-US" sz="66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요금제·할인 전략을 적용했을 때의 반응도와 위험군 변화 가능성을 비교합니다.</a:t>
            </a:r>
            <a:endParaRPr sz="66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674638" y="2460532"/>
            <a:ext cx="1847700" cy="1229700"/>
          </a:xfrm>
          <a:prstGeom prst="roundRect">
            <a:avLst>
              <a:gd fmla="val 11250" name="adj"/>
            </a:avLst>
          </a:prstGeom>
          <a:solidFill>
            <a:srgbClr val="F1F4FB"/>
          </a:solidFill>
          <a:ln cap="flat" cmpd="sng" w="885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865786" y="2560443"/>
            <a:ext cx="1179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76"/>
              <a:buFont typeface="Malgun Gothic"/>
              <a:buNone/>
            </a:pPr>
            <a:r>
              <a:rPr b="1" lang="en-US" sz="976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상태 요약</a:t>
            </a:r>
            <a:endParaRPr sz="97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897644" y="3036943"/>
            <a:ext cx="4461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44"/>
              <a:buFont typeface="Malgun Gothic"/>
              <a:buNone/>
            </a:pPr>
            <a:r>
              <a:rPr lang="en-US" sz="544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위험군</a:t>
            </a:r>
            <a:endParaRPr sz="54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1662236" y="2975459"/>
            <a:ext cx="446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592"/>
              <a:buFont typeface="Malgun Gothic"/>
              <a:buNone/>
            </a:pPr>
            <a:r>
              <a:rPr b="1" lang="en-US" sz="592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주의형</a:t>
            </a:r>
            <a:endParaRPr sz="59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897644" y="3213709"/>
            <a:ext cx="4461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44"/>
              <a:buFont typeface="Malgun Gothic"/>
              <a:buNone/>
            </a:pPr>
            <a:r>
              <a:rPr lang="en-US" sz="544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점수</a:t>
            </a:r>
            <a:endParaRPr sz="54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1662236" y="3152225"/>
            <a:ext cx="446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592"/>
              <a:buFont typeface="Malgun Gothic"/>
              <a:buNone/>
            </a:pPr>
            <a:r>
              <a:rPr b="1" lang="en-US" sz="592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67점</a:t>
            </a:r>
            <a:endParaRPr sz="59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897644" y="3352048"/>
            <a:ext cx="541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44"/>
              <a:buFont typeface="Malgun Gothic"/>
              <a:buNone/>
            </a:pPr>
            <a:r>
              <a:rPr lang="en-US" sz="544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의향</a:t>
            </a:r>
            <a:endParaRPr sz="54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1662236" y="3317463"/>
            <a:ext cx="4461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592"/>
              <a:buFont typeface="Malgun Gothic"/>
              <a:buNone/>
            </a:pPr>
            <a:r>
              <a:rPr b="1" lang="en-US" sz="592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3.8 / 5</a:t>
            </a:r>
            <a:endParaRPr sz="59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674641" y="3843915"/>
            <a:ext cx="1847700" cy="2184600"/>
          </a:xfrm>
          <a:prstGeom prst="roundRect">
            <a:avLst>
              <a:gd fmla="val 7347" name="adj"/>
            </a:avLst>
          </a:prstGeom>
          <a:solidFill>
            <a:srgbClr val="F1F4FB"/>
          </a:solidFill>
          <a:ln cap="flat" cmpd="sng" w="885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865786" y="3928459"/>
            <a:ext cx="1051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76"/>
              <a:buFont typeface="Malgun Gothic"/>
              <a:buNone/>
            </a:pPr>
            <a:r>
              <a:rPr b="1" lang="en-US" sz="976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시나리오 입력</a:t>
            </a:r>
            <a:endParaRPr sz="97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865786" y="4343476"/>
            <a:ext cx="8307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71"/>
              <a:buFont typeface="Malgun Gothic"/>
              <a:buNone/>
            </a:pPr>
            <a:r>
              <a:rPr lang="en-US" sz="571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전환</a:t>
            </a:r>
            <a:endParaRPr sz="57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1598520" y="4343476"/>
            <a:ext cx="605400" cy="269100"/>
          </a:xfrm>
          <a:prstGeom prst="roundRect">
            <a:avLst>
              <a:gd fmla="val 17143" name="adj"/>
            </a:avLst>
          </a:prstGeom>
          <a:solidFill>
            <a:srgbClr val="DDE3F2"/>
          </a:solidFill>
          <a:ln cap="flat" cmpd="sng" w="8850">
            <a:solidFill>
              <a:srgbClr val="DD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1757810" y="4420330"/>
            <a:ext cx="2868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71"/>
              <a:buFont typeface="Malgun Gothic"/>
              <a:buNone/>
            </a:pPr>
            <a:r>
              <a:rPr lang="en-US" sz="571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</a:t>
            </a:r>
            <a:endParaRPr sz="57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865786" y="4843032"/>
            <a:ext cx="700800" cy="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71"/>
              <a:buFont typeface="Malgun Gothic"/>
              <a:buNone/>
            </a:pPr>
            <a:r>
              <a:rPr lang="en-US" sz="571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할인 쿠폰 제공</a:t>
            </a:r>
            <a:endParaRPr sz="57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598520" y="4804605"/>
            <a:ext cx="605400" cy="269100"/>
          </a:xfrm>
          <a:prstGeom prst="roundRect">
            <a:avLst>
              <a:gd fmla="val 17143" name="adj"/>
            </a:avLst>
          </a:prstGeom>
          <a:solidFill>
            <a:srgbClr val="DDE3F2"/>
          </a:solidFill>
          <a:ln cap="flat" cmpd="sng" w="8850">
            <a:solidFill>
              <a:srgbClr val="DD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1757810" y="4881459"/>
            <a:ext cx="2868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71"/>
              <a:buFont typeface="Malgun Gothic"/>
              <a:buNone/>
            </a:pPr>
            <a:r>
              <a:rPr lang="en-US" sz="571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10%</a:t>
            </a:r>
            <a:endParaRPr sz="57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865786" y="5304161"/>
            <a:ext cx="700800" cy="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71"/>
              <a:buFont typeface="Malgun Gothic"/>
              <a:buNone/>
            </a:pPr>
            <a:r>
              <a:rPr lang="en-US" sz="571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혜택 기간</a:t>
            </a:r>
            <a:endParaRPr sz="57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1598520" y="5265734"/>
            <a:ext cx="605400" cy="269100"/>
          </a:xfrm>
          <a:prstGeom prst="roundRect">
            <a:avLst>
              <a:gd fmla="val 17143" name="adj"/>
            </a:avLst>
          </a:prstGeom>
          <a:solidFill>
            <a:srgbClr val="DDE3F2"/>
          </a:solidFill>
          <a:ln cap="flat" cmpd="sng" w="8850">
            <a:solidFill>
              <a:srgbClr val="DD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1656819" y="5300318"/>
            <a:ext cx="4461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71"/>
              <a:buFont typeface="Malgun Gothic"/>
              <a:buNone/>
            </a:pPr>
            <a:r>
              <a:rPr lang="en-US" sz="571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1개월</a:t>
            </a:r>
            <a:endParaRPr sz="57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1263055" y="5665376"/>
            <a:ext cx="690000" cy="303600"/>
          </a:xfrm>
          <a:prstGeom prst="roundRect">
            <a:avLst>
              <a:gd fmla="val 23810" name="adj"/>
            </a:avLst>
          </a:prstGeom>
          <a:solidFill>
            <a:srgbClr val="111A2D"/>
          </a:solidFill>
          <a:ln cap="flat" cmpd="sng" w="8850">
            <a:solidFill>
              <a:srgbClr val="111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1225781" y="5734321"/>
            <a:ext cx="7647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6"/>
              <a:buFont typeface="Malgun Gothic"/>
              <a:buNone/>
            </a:pPr>
            <a:r>
              <a:rPr lang="en-US" sz="606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 실행</a:t>
            </a:r>
            <a:endParaRPr sz="60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2809123" y="2460532"/>
            <a:ext cx="4938000" cy="1114500"/>
          </a:xfrm>
          <a:prstGeom prst="roundRect">
            <a:avLst>
              <a:gd fmla="val 12414" name="adj"/>
            </a:avLst>
          </a:prstGeom>
          <a:solidFill>
            <a:srgbClr val="F1F4FB"/>
          </a:solidFill>
          <a:ln cap="flat" cmpd="sng" w="885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3013014" y="2560443"/>
            <a:ext cx="13539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76"/>
              <a:buFont typeface="Malgun Gothic"/>
              <a:buNone/>
            </a:pPr>
            <a:r>
              <a:rPr b="1" lang="en-US" sz="976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 결과</a:t>
            </a:r>
            <a:endParaRPr sz="97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3032129" y="2960088"/>
            <a:ext cx="1019400" cy="422700"/>
          </a:xfrm>
          <a:prstGeom prst="roundRect">
            <a:avLst>
              <a:gd fmla="val 14545" name="adj"/>
            </a:avLst>
          </a:prstGeom>
          <a:solidFill>
            <a:srgbClr val="E8EDF8"/>
          </a:solidFill>
          <a:ln cap="flat" cmpd="sng" w="885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3108588" y="2990830"/>
            <a:ext cx="656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02"/>
              <a:buFont typeface="Malgun Gothic"/>
              <a:buNone/>
            </a:pPr>
            <a:r>
              <a:rPr lang="en-US" sz="502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수용성</a:t>
            </a:r>
            <a:endParaRPr sz="50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3108588" y="3175282"/>
            <a:ext cx="764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18"/>
              <a:buFont typeface="Malgun Gothic"/>
              <a:buNone/>
            </a:pPr>
            <a:r>
              <a:rPr b="1" lang="en-US" sz="718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4.2 / 5</a:t>
            </a:r>
            <a:endParaRPr sz="71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4242733" y="2960088"/>
            <a:ext cx="1019400" cy="422700"/>
          </a:xfrm>
          <a:prstGeom prst="roundRect">
            <a:avLst>
              <a:gd fmla="val 14545" name="adj"/>
            </a:avLst>
          </a:prstGeom>
          <a:solidFill>
            <a:srgbClr val="E8EDF8"/>
          </a:solidFill>
          <a:ln cap="flat" cmpd="sng" w="885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4319192" y="3036943"/>
            <a:ext cx="5289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02"/>
              <a:buFont typeface="Malgun Gothic"/>
              <a:buNone/>
            </a:pPr>
            <a:r>
              <a:rPr lang="en-US" sz="502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위험군 변화</a:t>
            </a:r>
            <a:endParaRPr sz="50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4319192" y="3175282"/>
            <a:ext cx="764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18"/>
              <a:buFont typeface="Malgun Gothic"/>
              <a:buNone/>
            </a:pPr>
            <a:r>
              <a:rPr b="1" lang="en-US" sz="718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 → 적정</a:t>
            </a:r>
            <a:endParaRPr sz="71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5612626" y="2960088"/>
            <a:ext cx="1019400" cy="422700"/>
          </a:xfrm>
          <a:prstGeom prst="roundRect">
            <a:avLst>
              <a:gd fmla="val 14545" name="adj"/>
            </a:avLst>
          </a:prstGeom>
          <a:solidFill>
            <a:srgbClr val="E8EDF8"/>
          </a:solidFill>
          <a:ln cap="flat" cmpd="sng" w="885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5689085" y="3075371"/>
            <a:ext cx="5097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02"/>
              <a:buFont typeface="Malgun Gothic"/>
              <a:buNone/>
            </a:pPr>
            <a:r>
              <a:rPr lang="en-US" sz="502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예상 개선폭</a:t>
            </a:r>
            <a:endParaRPr sz="50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5689085" y="3175282"/>
            <a:ext cx="764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18"/>
              <a:buFont typeface="Malgun Gothic"/>
              <a:buNone/>
            </a:pPr>
            <a:r>
              <a:rPr b="1" lang="en-US" sz="718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-14%</a:t>
            </a:r>
            <a:endParaRPr sz="71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6950662" y="2898604"/>
            <a:ext cx="605400" cy="507300"/>
          </a:xfrm>
          <a:prstGeom prst="roundRect">
            <a:avLst>
              <a:gd fmla="val 15152" name="adj"/>
            </a:avLst>
          </a:prstGeom>
          <a:solidFill>
            <a:srgbClr val="4E7DFF"/>
          </a:solidFill>
          <a:ln cap="flat" cmpd="sng" w="885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7097209" y="3075371"/>
            <a:ext cx="318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7"/>
              <a:buFont typeface="Malgun Gothic"/>
              <a:buNone/>
            </a:pPr>
            <a:r>
              <a:rPr lang="en-US" sz="627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 추천</a:t>
            </a:r>
            <a:endParaRPr sz="62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2809123" y="3713266"/>
            <a:ext cx="2357700" cy="1691100"/>
          </a:xfrm>
          <a:prstGeom prst="roundRect">
            <a:avLst>
              <a:gd fmla="val 8182" name="adj"/>
            </a:avLst>
          </a:prstGeom>
          <a:solidFill>
            <a:srgbClr val="F1F4FB"/>
          </a:solidFill>
          <a:ln cap="flat" cmpd="sng" w="885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3013014" y="3905403"/>
            <a:ext cx="9882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76"/>
              <a:buFont typeface="Malgun Gothic"/>
              <a:buNone/>
            </a:pPr>
            <a:r>
              <a:rPr b="1" lang="en-US" sz="976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전/후 비교</a:t>
            </a:r>
            <a:endParaRPr sz="97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3032129" y="4266621"/>
            <a:ext cx="5736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57"/>
              <a:buFont typeface="Malgun Gothic"/>
              <a:buNone/>
            </a:pPr>
            <a:r>
              <a:rPr lang="en-US" sz="557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위험 점수</a:t>
            </a:r>
            <a:endParaRPr sz="55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3032129" y="4843032"/>
            <a:ext cx="5736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57"/>
              <a:buFont typeface="Malgun Gothic"/>
              <a:buNone/>
            </a:pPr>
            <a:r>
              <a:rPr lang="en-US" sz="557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혜택 적용 후</a:t>
            </a:r>
            <a:endParaRPr sz="55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27" name="Google Shape;427;p15"/>
          <p:cNvCxnSpPr/>
          <p:nvPr/>
        </p:nvCxnSpPr>
        <p:spPr>
          <a:xfrm>
            <a:off x="3764863" y="4351161"/>
            <a:ext cx="1083300" cy="0"/>
          </a:xfrm>
          <a:prstGeom prst="straightConnector1">
            <a:avLst/>
          </a:prstGeom>
          <a:noFill/>
          <a:ln cap="flat" cmpd="sng" w="885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15"/>
          <p:cNvCxnSpPr/>
          <p:nvPr/>
        </p:nvCxnSpPr>
        <p:spPr>
          <a:xfrm>
            <a:off x="3764863" y="4351161"/>
            <a:ext cx="732600" cy="0"/>
          </a:xfrm>
          <a:prstGeom prst="straightConnector1">
            <a:avLst/>
          </a:prstGeom>
          <a:noFill/>
          <a:ln cap="flat" cmpd="sng" w="8850">
            <a:solidFill>
              <a:srgbClr val="F5B4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15"/>
          <p:cNvSpPr/>
          <p:nvPr/>
        </p:nvSpPr>
        <p:spPr>
          <a:xfrm>
            <a:off x="4899007" y="4289677"/>
            <a:ext cx="1275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592"/>
              <a:buFont typeface="Malgun Gothic"/>
              <a:buNone/>
            </a:pPr>
            <a:r>
              <a:rPr lang="en-US" sz="592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67</a:t>
            </a:r>
            <a:endParaRPr sz="59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30" name="Google Shape;430;p15"/>
          <p:cNvCxnSpPr/>
          <p:nvPr/>
        </p:nvCxnSpPr>
        <p:spPr>
          <a:xfrm>
            <a:off x="3764863" y="4927572"/>
            <a:ext cx="1083300" cy="0"/>
          </a:xfrm>
          <a:prstGeom prst="straightConnector1">
            <a:avLst/>
          </a:prstGeom>
          <a:noFill/>
          <a:ln cap="flat" cmpd="sng" w="885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15"/>
          <p:cNvCxnSpPr/>
          <p:nvPr/>
        </p:nvCxnSpPr>
        <p:spPr>
          <a:xfrm>
            <a:off x="3764863" y="4927572"/>
            <a:ext cx="560700" cy="0"/>
          </a:xfrm>
          <a:prstGeom prst="straightConnector1">
            <a:avLst/>
          </a:prstGeom>
          <a:noFill/>
          <a:ln cap="flat" cmpd="sng" w="885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p15"/>
          <p:cNvSpPr/>
          <p:nvPr/>
        </p:nvSpPr>
        <p:spPr>
          <a:xfrm>
            <a:off x="4899007" y="4866089"/>
            <a:ext cx="1275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592"/>
              <a:buFont typeface="Malgun Gothic"/>
              <a:buNone/>
            </a:pPr>
            <a:r>
              <a:rPr lang="en-US" sz="592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53</a:t>
            </a:r>
            <a:endParaRPr sz="59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5325904" y="3713266"/>
            <a:ext cx="2421000" cy="1691100"/>
          </a:xfrm>
          <a:prstGeom prst="roundRect">
            <a:avLst>
              <a:gd fmla="val 8182" name="adj"/>
            </a:avLst>
          </a:prstGeom>
          <a:solidFill>
            <a:srgbClr val="F1F4FB"/>
          </a:solidFill>
          <a:ln cap="flat" cmpd="sng" w="885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5517052" y="3866975"/>
            <a:ext cx="8403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76"/>
              <a:buFont typeface="Malgun Gothic"/>
              <a:buNone/>
            </a:pPr>
            <a:r>
              <a:rPr b="1" lang="en-US" sz="976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전략</a:t>
            </a:r>
            <a:endParaRPr sz="97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5529796" y="4258935"/>
            <a:ext cx="51000" cy="61500"/>
          </a:xfrm>
          <a:prstGeom prst="ellipse">
            <a:avLst/>
          </a:prstGeom>
          <a:solidFill>
            <a:srgbClr val="4E7DFF"/>
          </a:solidFill>
          <a:ln cap="flat" cmpd="sng" w="885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5631741" y="4235879"/>
            <a:ext cx="18159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44"/>
              <a:buFont typeface="Malgun Gothic"/>
              <a:buNone/>
            </a:pPr>
            <a:r>
              <a:rPr lang="en-US" sz="544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전환을 우선 제안하고</a:t>
            </a:r>
            <a:endParaRPr sz="54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44"/>
              <a:buFont typeface="Malgun Gothic"/>
              <a:buNone/>
            </a:pPr>
            <a:r>
              <a:rPr lang="en-US" sz="544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1개월 할인 쿠폰을 함께 제공합니다.</a:t>
            </a:r>
            <a:endParaRPr sz="54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5529796" y="4658580"/>
            <a:ext cx="51000" cy="61500"/>
          </a:xfrm>
          <a:prstGeom prst="ellipse">
            <a:avLst/>
          </a:prstGeom>
          <a:solidFill>
            <a:srgbClr val="4E7DFF"/>
          </a:solidFill>
          <a:ln cap="flat" cmpd="sng" w="885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5631741" y="4635524"/>
            <a:ext cx="18159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44"/>
              <a:buFont typeface="Malgun Gothic"/>
              <a:buNone/>
            </a:pPr>
            <a:r>
              <a:rPr lang="en-US" sz="544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의존도가 높아 개인화 추천 배너를</a:t>
            </a:r>
            <a:endParaRPr sz="54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44"/>
              <a:buFont typeface="Malgun Gothic"/>
              <a:buNone/>
            </a:pPr>
            <a:r>
              <a:rPr lang="en-US" sz="544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홈에 함께 노출합니다.</a:t>
            </a:r>
            <a:endParaRPr sz="54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5529796" y="5058226"/>
            <a:ext cx="51000" cy="61500"/>
          </a:xfrm>
          <a:prstGeom prst="ellipse">
            <a:avLst/>
          </a:prstGeom>
          <a:solidFill>
            <a:srgbClr val="4E7DFF"/>
          </a:solidFill>
          <a:ln cap="flat" cmpd="sng" w="885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5631741" y="5035169"/>
            <a:ext cx="18159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44"/>
              <a:buFont typeface="Malgun Gothic"/>
              <a:buNone/>
            </a:pPr>
            <a:r>
              <a:rPr lang="en-US" sz="544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혜택 종료 전 재방문 유도 메시지를 발송해</a:t>
            </a:r>
            <a:endParaRPr sz="54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44"/>
              <a:buFont typeface="Malgun Gothic"/>
              <a:buNone/>
            </a:pPr>
            <a:r>
              <a:rPr lang="en-US" sz="544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위험군 재상승을 방지합니다.</a:t>
            </a:r>
            <a:endParaRPr sz="54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324413" y="6172621"/>
            <a:ext cx="8495400" cy="422700"/>
          </a:xfrm>
          <a:prstGeom prst="rect">
            <a:avLst/>
          </a:prstGeom>
          <a:solidFill>
            <a:srgbClr val="030D1C">
              <a:alpha val="92160"/>
            </a:srgbClr>
          </a:solidFill>
          <a:ln cap="flat" cmpd="sng" w="8850">
            <a:solidFill>
              <a:srgbClr val="030D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579064" y="6280218"/>
            <a:ext cx="1019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DF3"/>
              </a:buClr>
              <a:buSzPts val="557"/>
              <a:buFont typeface="Malgun Gothic"/>
              <a:buNone/>
            </a:pPr>
            <a:r>
              <a:rPr lang="en-US" sz="557">
                <a:solidFill>
                  <a:srgbClr val="D6DDF3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Insight Project</a:t>
            </a:r>
            <a:endParaRPr sz="55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7787465" y="6280218"/>
            <a:ext cx="77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AE6"/>
              </a:buClr>
              <a:buSzPts val="523"/>
              <a:buFont typeface="Malgun Gothic"/>
              <a:buNone/>
            </a:pPr>
            <a:r>
              <a:rPr lang="en-US" sz="523">
                <a:solidFill>
                  <a:srgbClr val="C0CAE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2026.03.17 최민우</a:t>
            </a:r>
            <a:endParaRPr sz="52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22860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 txBox="1"/>
          <p:nvPr/>
        </p:nvSpPr>
        <p:spPr>
          <a:xfrm>
            <a:off x="24688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 Title</a:t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1051560" y="109728"/>
            <a:ext cx="155448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 txBox="1"/>
          <p:nvPr/>
        </p:nvSpPr>
        <p:spPr>
          <a:xfrm>
            <a:off x="1097280" y="109728"/>
            <a:ext cx="1463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2 화면</a:t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260604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 txBox="1"/>
          <p:nvPr/>
        </p:nvSpPr>
        <p:spPr>
          <a:xfrm>
            <a:off x="262432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ID</a:t>
            </a: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3429000" y="109728"/>
            <a:ext cx="146304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 txBox="1"/>
          <p:nvPr/>
        </p:nvSpPr>
        <p:spPr>
          <a:xfrm>
            <a:off x="3474720" y="10972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FUNC2-01</a:t>
            </a: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489204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 txBox="1"/>
          <p:nvPr/>
        </p:nvSpPr>
        <p:spPr>
          <a:xfrm>
            <a:off x="491032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Author</a:t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5715000" y="109728"/>
            <a:ext cx="128016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 txBox="1"/>
          <p:nvPr/>
        </p:nvSpPr>
        <p:spPr>
          <a:xfrm>
            <a:off x="5760720" y="109728"/>
            <a:ext cx="11887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최민우</a:t>
            </a: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699516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 txBox="1"/>
          <p:nvPr/>
        </p:nvSpPr>
        <p:spPr>
          <a:xfrm>
            <a:off x="701344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Date</a:t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7818120" y="109728"/>
            <a:ext cx="137160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 txBox="1"/>
          <p:nvPr/>
        </p:nvSpPr>
        <p:spPr>
          <a:xfrm>
            <a:off x="7863840" y="10972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2026.03.17</a:t>
            </a: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228600" y="365760"/>
            <a:ext cx="91440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 txBox="1"/>
          <p:nvPr/>
        </p:nvSpPr>
        <p:spPr>
          <a:xfrm>
            <a:off x="246888" y="365760"/>
            <a:ext cx="9418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Path</a:t>
            </a: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1143000" y="365760"/>
            <a:ext cx="521208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 txBox="1"/>
          <p:nvPr/>
        </p:nvSpPr>
        <p:spPr>
          <a:xfrm>
            <a:off x="1188720" y="36576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&gt; 마케팅 시뮬레이션</a:t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9171432" y="749808"/>
            <a:ext cx="2724912" cy="34747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 txBox="1"/>
          <p:nvPr/>
        </p:nvSpPr>
        <p:spPr>
          <a:xfrm>
            <a:off x="9217152" y="749808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9171432" y="1164377"/>
            <a:ext cx="2724912" cy="54309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 txBox="1"/>
          <p:nvPr/>
        </p:nvSpPr>
        <p:spPr>
          <a:xfrm>
            <a:off x="9217152" y="1205668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468" name="Google Shape;468;p15"/>
          <p:cNvSpPr txBox="1"/>
          <p:nvPr/>
        </p:nvSpPr>
        <p:spPr>
          <a:xfrm>
            <a:off x="9427464" y="1205668"/>
            <a:ext cx="2423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기능2의 제목 및 상세 내용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9" name="Google Shape;469;p15"/>
          <p:cNvSpPr txBox="1"/>
          <p:nvPr/>
        </p:nvSpPr>
        <p:spPr>
          <a:xfrm>
            <a:off x="9219862" y="1893186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470" name="Google Shape;470;p15"/>
          <p:cNvSpPr txBox="1"/>
          <p:nvPr/>
        </p:nvSpPr>
        <p:spPr>
          <a:xfrm>
            <a:off x="9427464" y="1621659"/>
            <a:ext cx="24231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결과를 요약하여 보여주는 영역, 현재 위험군/위험 점수/광고형 요금제 의향 등 시뮬레이션에 필요한 핵심 정보를 확인할 수 있습니다.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1" name="Google Shape;471;p15"/>
          <p:cNvSpPr txBox="1"/>
          <p:nvPr/>
        </p:nvSpPr>
        <p:spPr>
          <a:xfrm>
            <a:off x="9222137" y="2922286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472" name="Google Shape;472;p15"/>
          <p:cNvSpPr txBox="1"/>
          <p:nvPr/>
        </p:nvSpPr>
        <p:spPr>
          <a:xfrm>
            <a:off x="9381744" y="2699189"/>
            <a:ext cx="24231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전환, 할인 쿠폰 제공, 혜택 기간 등 유지 전략 조건을 입력하는 영역, 입력된 조건을 바탕으로 시뮬레이션을 실행할 수 있습니다</a:t>
            </a: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/>
          </a:p>
        </p:txBody>
      </p:sp>
      <p:sp>
        <p:nvSpPr>
          <p:cNvPr id="473" name="Google Shape;473;p15"/>
          <p:cNvSpPr txBox="1"/>
          <p:nvPr/>
        </p:nvSpPr>
        <p:spPr>
          <a:xfrm>
            <a:off x="9225620" y="3943885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474" name="Google Shape;474;p15"/>
          <p:cNvSpPr txBox="1"/>
          <p:nvPr/>
        </p:nvSpPr>
        <p:spPr>
          <a:xfrm>
            <a:off x="9387502" y="3755206"/>
            <a:ext cx="250613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입력한 시나리오를 반영한 결과를 요약하여 보여주는 영역, 광고형 수용성/위험군 변화/예상 개선폭 등 핵심 결과를 한눈에 확인할 수 있습니다.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5" name="Google Shape;475;p15"/>
          <p:cNvSpPr txBox="1"/>
          <p:nvPr/>
        </p:nvSpPr>
        <p:spPr>
          <a:xfrm>
            <a:off x="9222137" y="4915904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476" name="Google Shape;476;p15"/>
          <p:cNvSpPr txBox="1"/>
          <p:nvPr/>
        </p:nvSpPr>
        <p:spPr>
          <a:xfrm>
            <a:off x="9387502" y="4748786"/>
            <a:ext cx="24231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 적용 전과 후의 상태를 비교하여 보여주는 영역, 위험군 변화나 주요 지표 개선 정도를 시각적으로 확인할 수 있습니다.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7" name="Google Shape;477;p15"/>
          <p:cNvSpPr txBox="1"/>
          <p:nvPr/>
        </p:nvSpPr>
        <p:spPr>
          <a:xfrm>
            <a:off x="9222910" y="5794664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sp>
        <p:nvSpPr>
          <p:cNvPr id="478" name="Google Shape;478;p15"/>
          <p:cNvSpPr txBox="1"/>
          <p:nvPr/>
        </p:nvSpPr>
        <p:spPr>
          <a:xfrm>
            <a:off x="9438980" y="5579618"/>
            <a:ext cx="24231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 결과를 바탕으로 적합한 유지 전략을 제안하는 영역, 광고형 요금제 전환/할인 제공/혜택 조정 등의 추천 내용을 제공합니다.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7301398" y="3731754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12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351676" y="1710387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/>
          </a:p>
        </p:txBody>
      </p:sp>
      <p:sp>
        <p:nvSpPr>
          <p:cNvPr id="481" name="Google Shape;481;p15"/>
          <p:cNvSpPr/>
          <p:nvPr/>
        </p:nvSpPr>
        <p:spPr>
          <a:xfrm>
            <a:off x="2062876" y="2548637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/>
          </a:p>
        </p:txBody>
      </p:sp>
      <p:sp>
        <p:nvSpPr>
          <p:cNvPr id="482" name="Google Shape;482;p15"/>
          <p:cNvSpPr/>
          <p:nvPr/>
        </p:nvSpPr>
        <p:spPr>
          <a:xfrm>
            <a:off x="2062876" y="3843150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/>
          </a:p>
        </p:txBody>
      </p:sp>
      <p:sp>
        <p:nvSpPr>
          <p:cNvPr id="483" name="Google Shape;483;p15"/>
          <p:cNvSpPr/>
          <p:nvPr/>
        </p:nvSpPr>
        <p:spPr>
          <a:xfrm>
            <a:off x="4729614" y="2472962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/>
          </a:p>
        </p:txBody>
      </p:sp>
      <p:sp>
        <p:nvSpPr>
          <p:cNvPr id="484" name="Google Shape;484;p15"/>
          <p:cNvSpPr/>
          <p:nvPr/>
        </p:nvSpPr>
        <p:spPr>
          <a:xfrm>
            <a:off x="4729614" y="3789387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