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4" y="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042FD7B4-3B20-4EDE-8003-4E741BE3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78" y="994120"/>
            <a:ext cx="8757380" cy="54406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Page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메인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MAIN-01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최민우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2026.03.17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" y="365760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메인 &gt; 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82828"/>
                </a:solidFill>
                <a:latin typeface="Malgun Gothic"/>
              </a:rPr>
              <a:t>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71432" y="1133856"/>
            <a:ext cx="2724912" cy="5300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1399202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2298" y="1399202"/>
            <a:ext cx="24231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네비게이션바 입니다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 dirty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28710" y="2255397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8710" y="3316392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81744" y="2121309"/>
            <a:ext cx="24231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 dirty="0">
                <a:solidFill>
                  <a:srgbClr val="282828"/>
                </a:solidFill>
                <a:latin typeface="Malgun Gothic"/>
              </a:rPr>
              <a:t>대시보드 요약 영역</a:t>
            </a:r>
            <a:r>
              <a:rPr lang="en-US" altLang="ko-KR" sz="1200" dirty="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주요 분석 현황과 핵심 지표를 한눈에 확인 가능합니다</a:t>
            </a:r>
            <a:endParaRPr sz="1200" b="0" dirty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17152" y="4359133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1239" y="3159638"/>
            <a:ext cx="262527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 b="0">
                <a:solidFill>
                  <a:srgbClr val="282828"/>
                </a:solidFill>
                <a:latin typeface="Malgun Gothic"/>
              </a:rPr>
              <a:t>위험 단계를 색상으로 구분하여 보여주는 영역</a:t>
            </a:r>
            <a:r>
              <a:rPr lang="en-US" altLang="ko-KR" sz="1200" b="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 b="0">
                <a:solidFill>
                  <a:srgbClr val="282828"/>
                </a:solidFill>
                <a:latin typeface="Malgun Gothic"/>
              </a:rPr>
              <a:t>분석 결과의 위험 수준을 직관적으로 확인 가능합니다</a:t>
            </a:r>
            <a:r>
              <a:rPr lang="en-US" altLang="ko-KR" sz="1200" b="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26196" y="4220633"/>
            <a:ext cx="262527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광고형 요금제 적용 시나리오를 실행하는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시뮬레이션 결과로 예상 위험도 개선 효과를 확인할 수 있습니다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303520" y="1650158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1828799" y="3392424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511296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444192" y="1316736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그림 75">
            <a:extLst>
              <a:ext uri="{FF2B5EF4-FFF2-40B4-BE49-F238E27FC236}">
                <a16:creationId xmlns:a16="http://schemas.microsoft.com/office/drawing/2014/main" id="{91A51F99-B8C4-47A0-AF0F-7BA4B3E2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35246"/>
            <a:ext cx="8699979" cy="541445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Page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기능 1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FUNC1-01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최민우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2026.03.17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" y="365760"/>
            <a:ext cx="9235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메인 &gt; 구독 위험도 분석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" y="1581912"/>
            <a:ext cx="324612" cy="277797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322575" y="2606040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4611324" y="2527608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4730196" y="3707634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7406640" y="3813048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82828"/>
                </a:solidFill>
                <a:latin typeface="Malgun Gothic"/>
              </a:rPr>
              <a:t>Description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4025" y="1147829"/>
            <a:ext cx="2724912" cy="5330437"/>
          </a:xfrm>
          <a:prstGeom prst="rect">
            <a:avLst/>
          </a:prstGeom>
          <a:solidFill>
            <a:srgbClr val="FFFFFF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5834" y="1347591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1362947"/>
            <a:ext cx="24231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기능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1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의 제목 및 상세 내용</a:t>
            </a:r>
            <a:r>
              <a:rPr sz="1200" b="0">
                <a:solidFill>
                  <a:srgbClr val="282828"/>
                </a:solidFill>
                <a:latin typeface="Malgun Gothic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2282235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8639" y="2095767"/>
            <a:ext cx="242316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사용자의 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OTT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이용 관련 핵심 정보를 입력하는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입력된 값을 바탕으로 이용자 유형 및 이탈 취약도 분석을 수행합니다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65834" y="3258950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5834" y="4216367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5777" y="2948267"/>
            <a:ext cx="2423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분석 결과의 핵심 요약 정보를 보여주는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이용자 유형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위험 점수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위험군 분류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최근 사용 상태를 한눈에 확인할 수 있습니다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57978" y="5262628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30426" y="3946754"/>
            <a:ext cx="242316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이탈 취약도에 영향을 주는 주요 요인을 시각적으로 보여주는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각 요인별 반영 비율을 통해 어떤 항목이 위험도에 더 크게 적용되는지 확인할 수 있습니다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421411" y="5111619"/>
            <a:ext cx="2423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분석 결과를 문장 형태로 해석하여 제공하는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사용자 이용 패턴과 위험 요인을 바탕으로 결과의 의미를 쉽게 이해할 수 있도록 구성합니다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그림 75">
            <a:extLst>
              <a:ext uri="{FF2B5EF4-FFF2-40B4-BE49-F238E27FC236}">
                <a16:creationId xmlns:a16="http://schemas.microsoft.com/office/drawing/2014/main" id="{C00B7511-3A6C-4FC3-9534-61B06442D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999021"/>
            <a:ext cx="8688012" cy="528586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Page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기능 2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FUNC2-01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최민우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2026.03.17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" y="365760"/>
            <a:ext cx="9418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82828"/>
                </a:solidFill>
                <a:latin typeface="Malgun Gothic"/>
              </a:rPr>
              <a:t>Screen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Malgun Gothic"/>
              </a:rPr>
              <a:t>메인 &gt; 마케팅 시뮬레이션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82828"/>
                </a:solidFill>
                <a:latin typeface="Malgun Gothic"/>
              </a:rPr>
              <a:t>Description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71432" y="1164377"/>
            <a:ext cx="2724912" cy="5430904"/>
          </a:xfrm>
          <a:prstGeom prst="rect">
            <a:avLst/>
          </a:prstGeom>
          <a:solidFill>
            <a:srgbClr val="FFFFFF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1205668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4" y="1205668"/>
            <a:ext cx="24231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기능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2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의 제목 및 상세 내용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19862" y="1893186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7464" y="1621659"/>
            <a:ext cx="2423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분석 결과를 요약하여 보여주는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현재 위험군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위험 점수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광고형 요금제 의향 등 시뮬레이션에 필요한 핵심 정보를 확인할 수 있습니다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22137" y="2922286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2699189"/>
            <a:ext cx="2423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광고형 요금제 전환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할인 쿠폰 제공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혜택 기간 등 유지 전략 조건을 입력하는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입력된 조건을 바탕으로 시뮬레이션을 실행할 수 있습니다</a:t>
            </a:r>
            <a:r>
              <a:rPr sz="1200" b="0">
                <a:solidFill>
                  <a:srgbClr val="282828"/>
                </a:solidFill>
                <a:latin typeface="Malgun Gothic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5620" y="3943885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87502" y="3755206"/>
            <a:ext cx="25061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입력한 시나리오를 반영한 결과를 요약하여 보여주는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광고형 수용성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위험군 변화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예상 개선폭 등 핵심 결과를 한눈에 확인할 수 있습니다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222137" y="4915904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7502" y="4748786"/>
            <a:ext cx="242316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전략 적용 전과 후의 상태를 비교하여 보여주는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위험군 변화나 주요 지표 개선 정도를 시각적으로 확인할 수 있습니다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22910" y="5794664"/>
            <a:ext cx="16459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algun Gothic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38980" y="5579618"/>
            <a:ext cx="24231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시뮬레이션 결과를 바탕으로 적합한 유지 전략을 제안하는 영역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, 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광고형 요금제 전환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할인 제공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/</a:t>
            </a:r>
            <a:r>
              <a:rPr lang="ko-KR" altLang="en-US" sz="1200">
                <a:solidFill>
                  <a:srgbClr val="282828"/>
                </a:solidFill>
                <a:latin typeface="Malgun Gothic"/>
              </a:rPr>
              <a:t>혜택 조정 등의 추천 내용을 제공합니다</a:t>
            </a:r>
            <a:r>
              <a:rPr lang="en-US" altLang="ko-KR" sz="1200">
                <a:solidFill>
                  <a:srgbClr val="282828"/>
                </a:solidFill>
                <a:latin typeface="Malgun Gothic"/>
              </a:rPr>
              <a:t>.</a:t>
            </a:r>
            <a:endParaRPr sz="1200" b="0">
              <a:solidFill>
                <a:srgbClr val="282828"/>
              </a:solidFill>
              <a:latin typeface="Malgun Gothic"/>
            </a:endParaRPr>
          </a:p>
        </p:txBody>
      </p:sp>
      <p:sp>
        <p:nvSpPr>
          <p:cNvPr id="71" name="Oval 23">
            <a:extLst>
              <a:ext uri="{FF2B5EF4-FFF2-40B4-BE49-F238E27FC236}">
                <a16:creationId xmlns:a16="http://schemas.microsoft.com/office/drawing/2014/main" id="{12584807-9550-4F96-AEBF-154AD405A1E6}"/>
              </a:ext>
            </a:extLst>
          </p:cNvPr>
          <p:cNvSpPr/>
          <p:nvPr/>
        </p:nvSpPr>
        <p:spPr>
          <a:xfrm>
            <a:off x="623740" y="1522283"/>
            <a:ext cx="399960" cy="324867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2" name="Oval 24">
            <a:extLst>
              <a:ext uri="{FF2B5EF4-FFF2-40B4-BE49-F238E27FC236}">
                <a16:creationId xmlns:a16="http://schemas.microsoft.com/office/drawing/2014/main" id="{06466283-09FE-47E1-8899-960DF351F0D0}"/>
              </a:ext>
            </a:extLst>
          </p:cNvPr>
          <p:cNvSpPr/>
          <p:nvPr/>
        </p:nvSpPr>
        <p:spPr>
          <a:xfrm>
            <a:off x="2079921" y="2551176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3" name="Oval 25">
            <a:extLst>
              <a:ext uri="{FF2B5EF4-FFF2-40B4-BE49-F238E27FC236}">
                <a16:creationId xmlns:a16="http://schemas.microsoft.com/office/drawing/2014/main" id="{E8A1DC99-2AD8-47BB-94B1-E099320A7980}"/>
              </a:ext>
            </a:extLst>
          </p:cNvPr>
          <p:cNvSpPr/>
          <p:nvPr/>
        </p:nvSpPr>
        <p:spPr>
          <a:xfrm>
            <a:off x="2079921" y="3807312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4" name="Oval 26">
            <a:extLst>
              <a:ext uri="{FF2B5EF4-FFF2-40B4-BE49-F238E27FC236}">
                <a16:creationId xmlns:a16="http://schemas.microsoft.com/office/drawing/2014/main" id="{A9F3E409-951A-4331-97A7-55D2BD4A21A6}"/>
              </a:ext>
            </a:extLst>
          </p:cNvPr>
          <p:cNvSpPr/>
          <p:nvPr/>
        </p:nvSpPr>
        <p:spPr>
          <a:xfrm>
            <a:off x="4748189" y="2487168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5" name="Oval 27">
            <a:extLst>
              <a:ext uri="{FF2B5EF4-FFF2-40B4-BE49-F238E27FC236}">
                <a16:creationId xmlns:a16="http://schemas.microsoft.com/office/drawing/2014/main" id="{A8E4A92B-58A2-455F-A089-F055EDD5883C}"/>
              </a:ext>
            </a:extLst>
          </p:cNvPr>
          <p:cNvSpPr/>
          <p:nvPr/>
        </p:nvSpPr>
        <p:spPr>
          <a:xfrm>
            <a:off x="4910328" y="3688440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77" name="Oval 27">
            <a:extLst>
              <a:ext uri="{FF2B5EF4-FFF2-40B4-BE49-F238E27FC236}">
                <a16:creationId xmlns:a16="http://schemas.microsoft.com/office/drawing/2014/main" id="{C8E6420E-728D-4B98-98A4-EF691A3CBD06}"/>
              </a:ext>
            </a:extLst>
          </p:cNvPr>
          <p:cNvSpPr/>
          <p:nvPr/>
        </p:nvSpPr>
        <p:spPr>
          <a:xfrm>
            <a:off x="7573404" y="3657917"/>
            <a:ext cx="237744" cy="237744"/>
          </a:xfrm>
          <a:prstGeom prst="ellipse">
            <a:avLst/>
          </a:prstGeom>
          <a:solidFill>
            <a:srgbClr val="FA6E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Malgun Gothic"/>
              </a:rPr>
              <a:t>6</a:t>
            </a:r>
            <a:endParaRPr sz="1200" b="1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355</Words>
  <Application>Microsoft Office PowerPoint</Application>
  <PresentationFormat>와이드스크린</PresentationFormat>
  <Paragraphs>78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404_11</dc:creator>
  <cp:keywords/>
  <dc:description>generated using python-pptx</dc:description>
  <cp:lastModifiedBy>404_11</cp:lastModifiedBy>
  <cp:revision>12</cp:revision>
  <dcterms:created xsi:type="dcterms:W3CDTF">2013-01-27T09:14:16Z</dcterms:created>
  <dcterms:modified xsi:type="dcterms:W3CDTF">2026-03-17T07:44:11Z</dcterms:modified>
  <cp:category/>
</cp:coreProperties>
</file>